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71"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4E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E9A8C-3F50-49F8-A835-316C22A1110D}" type="datetimeFigureOut">
              <a:rPr lang="en-IN" smtClean="0"/>
              <a:t>08-09-2026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343F9-2D09-4642-A3BD-5BF627A067F3}" type="slidenum">
              <a:rPr lang="en-IN" smtClean="0"/>
              <a:t>‹#›</a:t>
            </a:fld>
            <a:endParaRPr lang="en-IN"/>
          </a:p>
        </p:txBody>
      </p:sp>
    </p:spTree>
    <p:extLst>
      <p:ext uri="{BB962C8B-B14F-4D97-AF65-F5344CB8AC3E}">
        <p14:creationId xmlns:p14="http://schemas.microsoft.com/office/powerpoint/2010/main" val="569163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for the 3rd edition of the PRISM Generative AI Hackathon. Replace the SAMSUNG PRISM pill with the official PRISM logo image if you have the asset. Confirm the academic year label (2026-27) before circulating.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FE64-7CE6-4299-B8FE-939866A3E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E4360C-492F-4E2E-B967-599B2BD31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870CDB-78C3-4602-B35C-A826CBF20916}"/>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585EF81-E96A-4C8D-A4F0-A9DF05C49C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FA2448-68BE-42AE-8001-48ECE62DC431}"/>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55120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5E08-CE8A-45BE-8C3E-C04A49CC8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FCCB0C-95AB-4F7A-955D-2DC18750BF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96DA85-2FDE-4136-B9F6-AF0965475E5A}"/>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299B0367-ACE7-48B9-82C8-A7BFD1F98E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09A210-6017-4F71-9E78-B2C329B4A7E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5812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E6C5-6752-4963-B842-280808B201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EA6DFC-697D-4605-86C0-8572E022B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341469-A18C-498E-BACC-28BCBFE904BB}"/>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AED5D3B-1983-426F-A1AE-7470C43BB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35ABB1-45F2-4FEA-BB5A-3B053892DBC7}"/>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026530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F4AE-F142-401B-A5D1-4A52FF92C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7C9BD1-2876-4C52-83CF-1CBA9D931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E624D8-76A7-478F-ACA3-5749DEFD0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29A939-0957-4E96-B38D-0B2E39D4137F}"/>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C89D44E1-B8BA-490F-B30A-538CC4D48F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84BB79-7CA5-414E-B5B6-6A8E9AEE4A94}"/>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74354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6CE8-8BA4-4FB1-ACAA-E38F8ED7F7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70902-F321-482A-924A-FF9A87CA5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5B6F67-E437-4FE8-851B-B016F33CFE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CE7897-2D17-49F8-8762-68F8D5794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AE8E8-43BB-400D-8934-6D6B21D3A5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DB6608-03F3-45EF-80BD-C6E305C07128}"/>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8" name="Footer Placeholder 7">
            <a:extLst>
              <a:ext uri="{FF2B5EF4-FFF2-40B4-BE49-F238E27FC236}">
                <a16:creationId xmlns:a16="http://schemas.microsoft.com/office/drawing/2014/main" id="{E665D75D-3AD4-4D0E-A5BC-9000973FD8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06A546-DC61-467F-A112-3AC0277BB9A8}"/>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7166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8549-E392-4F05-B762-B5370E51C9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059880-A67D-4A24-9138-E937AE75075F}"/>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4" name="Footer Placeholder 3">
            <a:extLst>
              <a:ext uri="{FF2B5EF4-FFF2-40B4-BE49-F238E27FC236}">
                <a16:creationId xmlns:a16="http://schemas.microsoft.com/office/drawing/2014/main" id="{01BF6EC7-BFAB-4137-9343-C66B7829AB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A6B929-B579-4261-8171-35357AE9A33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33729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AFEDF-BA35-4A7C-9388-604C048D57D0}"/>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3" name="Footer Placeholder 2">
            <a:extLst>
              <a:ext uri="{FF2B5EF4-FFF2-40B4-BE49-F238E27FC236}">
                <a16:creationId xmlns:a16="http://schemas.microsoft.com/office/drawing/2014/main" id="{11C80271-5700-43CC-A9BA-B2AAB47B21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A712EA-BE6D-4AE5-B09E-215DE5B0EE9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75907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6235-A416-4C23-BE8E-8FC1CF0EC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A2C36B-7DDF-4371-9F0A-6E5B64554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3FA19A-E15E-47EA-B9B9-5F7FD0AA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84724-CA93-4332-A03F-0909AC5249AD}"/>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E403302F-D853-499A-BB91-3BD5366E67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4AD427-BF9D-4A47-AF08-E4983B90C65A}"/>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404118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B540-7747-44F5-A3A4-69F051F36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4392B5-0943-4B18-9708-C9FA86F835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7DFA04-BB4C-4DC0-9831-EB32549F5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01BDBD-01E1-44D7-AB93-513FF196A2C4}"/>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D87D7BDB-9CCD-44F3-A4FB-D4BAE589BE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BC8D8A-A70C-4D57-8271-DCF5EEFC33AE}"/>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1223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63EB-C66D-4D2D-9928-25D57CFDCD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91A17B-5319-4265-82A2-5D286CFAFD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72F85-7902-4426-947E-3509F7A06CB1}"/>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D08658F-7DA3-40F3-B6FA-CF740F858E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B0DE9-130B-4DA8-9A0C-06A295C9D82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481950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594E2-CBC8-4A0C-A110-E3B5A301CF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FBD2EA-CB7C-4CAB-855D-57F7919104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2348B0-3CBB-41FA-A8EC-5DFC833D7ECD}"/>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1A7E08DA-D399-4DC8-89B1-C4EBC64DC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DA6177-D647-4C5F-BA43-C02A1390F47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814687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634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E67A62-7E64-4BE9-8EDF-4904E871A0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CA73B9-1A82-4479-978C-9C873CC677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977FC6-3D78-48A7-A3DB-BFC7C0EA3E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27CDC877-1137-446E-919A-C66E31331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258D39-C9B6-4DA9-9C05-38A0ECD4C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5B04A4-2082-4D7E-8466-9BA22C990A78}" type="slidenum">
              <a:rPr lang="en-IN" smtClean="0"/>
              <a:t>‹#›</a:t>
            </a:fld>
            <a:endParaRPr lang="en-IN"/>
          </a:p>
        </p:txBody>
      </p:sp>
    </p:spTree>
    <p:extLst>
      <p:ext uri="{BB962C8B-B14F-4D97-AF65-F5344CB8AC3E}">
        <p14:creationId xmlns:p14="http://schemas.microsoft.com/office/powerpoint/2010/main" val="3279178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sp>
      <p:sp>
        <p:nvSpPr>
          <p:cNvPr id="3" name="Text 1"/>
          <p:cNvSpPr txBox="1"/>
          <p:nvPr/>
        </p:nvSpPr>
        <p:spPr>
          <a:xfrm>
            <a:off x="777240" y="676656"/>
            <a:ext cx="2423160" cy="347472"/>
          </a:xfrm>
          <a:prstGeom prst="rect">
            <a:avLst/>
          </a:prstGeom>
          <a:noFill/>
          <a:ln/>
        </p:spPr>
        <p:txBody>
          <a:bodyPr wrap="square" lIns="0" tIns="0" rIns="0" bIns="0" rtlCol="0" anchor="ctr"/>
          <a:lstStyle/>
          <a:p>
            <a:pPr marL="0" indent="0" algn="ctr">
              <a:buNone/>
            </a:pPr>
            <a:r>
              <a:rPr lang="en-US" sz="1100" b="1" kern="0" spc="110" dirty="0">
                <a:solidFill>
                  <a:srgbClr val="6D28D9"/>
                </a:solidFill>
                <a:latin typeface="Arial" pitchFamily="34" charset="0"/>
                <a:ea typeface="Arial" pitchFamily="34" charset="-122"/>
                <a:cs typeface="Arial" pitchFamily="34" charset="-120"/>
              </a:rPr>
              <a:t>SAMSUNG PRISM</a:t>
            </a:r>
            <a:endParaRPr lang="en-US" sz="1100" dirty="0"/>
          </a:p>
        </p:txBody>
      </p:sp>
      <p:sp>
        <p:nvSpPr>
          <p:cNvPr id="4" name="Text 2"/>
          <p:cNvSpPr txBox="1"/>
          <p:nvPr/>
        </p:nvSpPr>
        <p:spPr>
          <a:xfrm>
            <a:off x="777240" y="1207008"/>
            <a:ext cx="6126480" cy="749808"/>
          </a:xfrm>
          <a:prstGeom prst="rect">
            <a:avLst/>
          </a:prstGeom>
          <a:noFill/>
          <a:ln/>
        </p:spPr>
        <p:txBody>
          <a:bodyPr wrap="square" lIns="0" tIns="0" rIns="0" bIns="0" rtlCol="0" anchor="ctr"/>
          <a:lstStyle/>
          <a:p>
            <a:pPr marL="0" indent="0">
              <a:buNone/>
            </a:pPr>
            <a:r>
              <a:rPr lang="en-US" sz="5000" b="1" dirty="0">
                <a:solidFill>
                  <a:srgbClr val="14142B"/>
                </a:solidFill>
                <a:latin typeface="Arial" pitchFamily="34" charset="0"/>
                <a:ea typeface="Arial" pitchFamily="34" charset="-122"/>
                <a:cs typeface="Arial" pitchFamily="34" charset="-120"/>
              </a:rPr>
              <a:t>Generative AI</a:t>
            </a:r>
            <a:endParaRPr lang="en-US" sz="5000" dirty="0"/>
          </a:p>
        </p:txBody>
      </p:sp>
      <p:sp>
        <p:nvSpPr>
          <p:cNvPr id="5" name="Text 3"/>
          <p:cNvSpPr txBox="1"/>
          <p:nvPr/>
        </p:nvSpPr>
        <p:spPr>
          <a:xfrm>
            <a:off x="777240" y="1901952"/>
            <a:ext cx="6126480" cy="749808"/>
          </a:xfrm>
          <a:prstGeom prst="rect">
            <a:avLst/>
          </a:prstGeom>
          <a:noFill/>
          <a:ln/>
        </p:spPr>
        <p:txBody>
          <a:bodyPr wrap="square" lIns="0" tIns="0" rIns="0" bIns="0" rtlCol="0" anchor="ctr"/>
          <a:lstStyle/>
          <a:p>
            <a:pPr marL="0" indent="0">
              <a:buNone/>
            </a:pPr>
            <a:r>
              <a:rPr lang="en-US" sz="5000" b="1" dirty="0">
                <a:solidFill>
                  <a:srgbClr val="6D28D9"/>
                </a:solidFill>
                <a:latin typeface="Arial" pitchFamily="34" charset="0"/>
                <a:ea typeface="Arial" pitchFamily="34" charset="-122"/>
                <a:cs typeface="Arial" pitchFamily="34" charset="-120"/>
              </a:rPr>
              <a:t>Hackathon</a:t>
            </a:r>
            <a:endParaRPr lang="en-US" sz="5000" dirty="0"/>
          </a:p>
        </p:txBody>
      </p:sp>
      <p:sp>
        <p:nvSpPr>
          <p:cNvPr id="6" name="Text 4"/>
          <p:cNvSpPr txBox="1"/>
          <p:nvPr/>
        </p:nvSpPr>
        <p:spPr>
          <a:xfrm>
            <a:off x="777240" y="2724912"/>
            <a:ext cx="6126480" cy="457200"/>
          </a:xfrm>
          <a:prstGeom prst="rect">
            <a:avLst/>
          </a:prstGeom>
          <a:noFill/>
          <a:ln/>
        </p:spPr>
        <p:txBody>
          <a:bodyPr wrap="square" lIns="0" tIns="0" rIns="0" bIns="0" rtlCol="0" anchor="ctr"/>
          <a:lstStyle/>
          <a:p>
            <a:pPr marL="0" indent="0">
              <a:buNone/>
            </a:pPr>
            <a:r>
              <a:rPr lang="en-US" sz="2500" b="1" dirty="0">
                <a:solidFill>
                  <a:srgbClr val="14142B"/>
                </a:solidFill>
                <a:latin typeface="Arial" pitchFamily="34" charset="0"/>
                <a:ea typeface="Arial" pitchFamily="34" charset="-122"/>
                <a:cs typeface="Arial" pitchFamily="34" charset="-120"/>
              </a:rPr>
              <a:t>3rd Edition</a:t>
            </a:r>
            <a:r>
              <a:rPr lang="en-US" sz="2000" dirty="0">
                <a:solidFill>
                  <a:srgbClr val="63637E"/>
                </a:solidFill>
                <a:latin typeface="Calibri" pitchFamily="34" charset="0"/>
                <a:ea typeface="Calibri" pitchFamily="34" charset="-122"/>
                <a:cs typeface="Calibri" pitchFamily="34" charset="-120"/>
              </a:rPr>
              <a:t>   2026 – 27</a:t>
            </a:r>
            <a:endParaRPr lang="en-US" sz="2500" dirty="0"/>
          </a:p>
        </p:txBody>
      </p:sp>
      <p:sp>
        <p:nvSpPr>
          <p:cNvPr id="7" name="Text 5"/>
          <p:cNvSpPr txBox="1"/>
          <p:nvPr/>
        </p:nvSpPr>
        <p:spPr>
          <a:xfrm>
            <a:off x="777240" y="3310128"/>
            <a:ext cx="5852160" cy="777240"/>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Theme ID - Theme 2: Troubleshooting (Smart Guided Troubleshooting Engine)</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Team Name - [Add team name]</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College Name - Vellore Institute of Technology (VIT), Vellore</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Tanya Singh (24BCI0191) - [email]</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Utkarsh Aggarwal (24BCI0194) - [email]</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Isha Deshmukh (24BCT0003) - [email]</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Submission </a:t>
            </a:r>
            <a:r>
              <a:rPr lang="en-US" sz="1600" dirty="0" err="1">
                <a:solidFill>
                  <a:srgbClr val="63637E"/>
                </a:solidFill>
                <a:latin typeface="Calibri" pitchFamily="34" charset="0"/>
                <a:ea typeface="Calibri" pitchFamily="34" charset="-122"/>
                <a:cs typeface="Calibri" pitchFamily="34" charset="-120"/>
              </a:rPr>
              <a:t>Github</a:t>
            </a:r>
            <a:r>
              <a:rPr lang="en-US" sz="1600" dirty="0">
                <a:solidFill>
                  <a:srgbClr val="63637E"/>
                </a:solidFill>
                <a:latin typeface="Calibri" pitchFamily="34" charset="0"/>
                <a:ea typeface="Calibri" pitchFamily="34" charset="-122"/>
                <a:cs typeface="Calibri" pitchFamily="34" charset="-120"/>
              </a:rPr>
              <a:t> link - [Add public repo URL]</a:t>
            </a:r>
          </a:p>
        </p:txBody>
      </p:sp>
      <p:pic>
        <p:nvPicPr>
          <p:cNvPr id="14" name="Image 0" descr="hero_network.png"/>
          <p:cNvPicPr>
            <a:picLocks noChangeAspect="1"/>
          </p:cNvPicPr>
          <p:nvPr/>
        </p:nvPicPr>
        <p:blipFill>
          <a:blip r:embed="rId3"/>
          <a:stretch>
            <a:fillRect/>
          </a:stretch>
        </p:blipFill>
        <p:spPr>
          <a:xfrm>
            <a:off x="7059168" y="1051560"/>
            <a:ext cx="4572000" cy="457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Theme</a:t>
            </a:r>
          </a:p>
        </p:txBody>
      </p:sp>
      <p:sp>
        <p:nvSpPr>
          <p:cNvPr id="11" name="Headline"/>
          <p:cNvSpPr txBox="1"/>
          <p:nvPr/>
        </p:nvSpPr>
        <p:spPr>
          <a:xfrm>
            <a:off x="822960" y="1508760"/>
            <a:ext cx="10515600" cy="502920"/>
          </a:xfrm>
          <a:prstGeom prst="rect">
            <a:avLst/>
          </a:prstGeom>
          <a:noFill/>
          <a:ln>
            <a:noFill/>
          </a:ln>
        </p:spPr>
        <p:txBody>
          <a:bodyPr wrap="square" lIns="0" tIns="0" rIns="0" bIns="0" rtlCol="0" anchor="ctr">
            <a:noAutofit/>
          </a:bodyPr>
          <a:lstStyle/>
          <a:p>
            <a:pPr algn="l" marL="0" indent="0">
              <a:spcAft>
                <a:spcPts val="0"/>
              </a:spcAft>
              <a:buNone/>
            </a:pPr>
            <a:r>
              <a:rPr lang="en-US" sz="2600" b="1" dirty="0">
                <a:solidFill>
                  <a:srgbClr val="14142B"/>
                </a:solidFill>
                <a:latin typeface="Calibri"/>
                <a:cs typeface="Calibri"/>
              </a:rPr>
              <a:t>Vague complaint in, deeplinked one-tap plan out</a:t>
            </a:r>
          </a:p>
        </p:txBody>
      </p:sp>
      <p:sp>
        <p:nvSpPr>
          <p:cNvPr id="12" name="Subline"/>
          <p:cNvSpPr txBox="1"/>
          <p:nvPr/>
        </p:nvSpPr>
        <p:spPr>
          <a:xfrm>
            <a:off x="822960" y="2011680"/>
            <a:ext cx="10515600" cy="594360"/>
          </a:xfrm>
          <a:prstGeom prst="rect">
            <a:avLst/>
          </a:prstGeom>
          <a:noFill/>
          <a:ln>
            <a:noFill/>
          </a:ln>
        </p:spPr>
        <p:txBody>
          <a:bodyPr wrap="square" lIns="0" tIns="0" rIns="0" bIns="0" rtlCol="0" anchor="t">
            <a:noAutofit/>
          </a:bodyPr>
          <a:lstStyle/>
          <a:p>
            <a:pPr algn="l" marL="0" indent="0">
              <a:spcAft>
                <a:spcPts val="0"/>
              </a:spcAft>
              <a:buNone/>
            </a:pPr>
            <a:r>
              <a:rPr lang="en-US" sz="1500" dirty="0">
                <a:solidFill>
                  <a:srgbClr val="63637E"/>
                </a:solidFill>
                <a:latin typeface="Calibri"/>
                <a:cs typeface="Calibri"/>
              </a:rPr>
              <a:t>Customers say “my phone got slow after the update”, not “clear cache for app X”. Theme 2 asks for an engine that bridges that gap automatically.</a:t>
            </a:r>
          </a:p>
        </p:txBody>
      </p:sp>
      <p:sp>
        <p:nvSpPr>
          <p:cNvPr id="13" name="Complaint chip 1"/>
          <p:cNvSpPr/>
          <p:nvPr/>
        </p:nvSpPr>
        <p:spPr>
          <a:xfrm>
            <a:off x="822960" y="2743200"/>
            <a:ext cx="3337560" cy="566928"/>
          </a:xfrm>
          <a:prstGeom prst="roundRect">
            <a:avLst>
              <a:gd name="adj" fmla="val 50000"/>
            </a:avLst>
          </a:prstGeom>
          <a:solidFill>
            <a:srgbClr val="F3EEFC"/>
          </a:solidFill>
          <a:ln w="12700">
            <a:solidFill>
              <a:srgbClr val="D9D3F0"/>
            </a:solidFill>
          </a:ln>
        </p:spPr>
        <p:txBody>
          <a:bodyPr wrap="square" lIns="91440" tIns="18288" rIns="91440" bIns="18288" rtlCol="0" anchor="ctr">
            <a:noAutofit/>
          </a:bodyPr>
          <a:lstStyle/>
          <a:p>
            <a:pPr algn="ctr" marL="0" indent="0">
              <a:spcAft>
                <a:spcPts val="0"/>
              </a:spcAft>
              <a:buNone/>
            </a:pPr>
            <a:r>
              <a:rPr lang="en-US" sz="1300" i="1" dirty="0">
                <a:solidFill>
                  <a:srgbClr val="6D28D9"/>
                </a:solidFill>
                <a:latin typeface="Calibri"/>
                <a:cs typeface="Calibri"/>
              </a:rPr>
              <a:t>“Screen flickers and the battery dies fast”</a:t>
            </a:r>
          </a:p>
        </p:txBody>
      </p:sp>
      <p:sp>
        <p:nvSpPr>
          <p:cNvPr id="14" name="Complaint chip 2"/>
          <p:cNvSpPr/>
          <p:nvPr/>
        </p:nvSpPr>
        <p:spPr>
          <a:xfrm>
            <a:off x="4411980" y="2743200"/>
            <a:ext cx="3337560" cy="566928"/>
          </a:xfrm>
          <a:prstGeom prst="roundRect">
            <a:avLst>
              <a:gd name="adj" fmla="val 50000"/>
            </a:avLst>
          </a:prstGeom>
          <a:solidFill>
            <a:srgbClr val="F3EEFC"/>
          </a:solidFill>
          <a:ln w="12700">
            <a:solidFill>
              <a:srgbClr val="D9D3F0"/>
            </a:solidFill>
          </a:ln>
        </p:spPr>
        <p:txBody>
          <a:bodyPr wrap="square" lIns="91440" tIns="18288" rIns="91440" bIns="18288" rtlCol="0" anchor="ctr">
            <a:noAutofit/>
          </a:bodyPr>
          <a:lstStyle/>
          <a:p>
            <a:pPr algn="ctr" marL="0" indent="0">
              <a:spcAft>
                <a:spcPts val="0"/>
              </a:spcAft>
              <a:buNone/>
            </a:pPr>
            <a:r>
              <a:rPr lang="en-US" sz="1300" i="1" dirty="0">
                <a:solidFill>
                  <a:srgbClr val="6D28D9"/>
                </a:solidFill>
                <a:latin typeface="Calibri"/>
                <a:cs typeface="Calibri"/>
              </a:rPr>
              <a:t>“My phone got slow after the update”</a:t>
            </a:r>
          </a:p>
        </p:txBody>
      </p:sp>
      <p:sp>
        <p:nvSpPr>
          <p:cNvPr id="15" name="Complaint chip 3"/>
          <p:cNvSpPr/>
          <p:nvPr/>
        </p:nvSpPr>
        <p:spPr>
          <a:xfrm>
            <a:off x="8001000" y="2743200"/>
            <a:ext cx="3337560" cy="566928"/>
          </a:xfrm>
          <a:prstGeom prst="roundRect">
            <a:avLst>
              <a:gd name="adj" fmla="val 50000"/>
            </a:avLst>
          </a:prstGeom>
          <a:solidFill>
            <a:srgbClr val="F3EEFC"/>
          </a:solidFill>
          <a:ln w="12700">
            <a:solidFill>
              <a:srgbClr val="D9D3F0"/>
            </a:solidFill>
          </a:ln>
        </p:spPr>
        <p:txBody>
          <a:bodyPr wrap="square" lIns="91440" tIns="18288" rIns="91440" bIns="18288" rtlCol="0" anchor="ctr">
            <a:noAutofit/>
          </a:bodyPr>
          <a:lstStyle/>
          <a:p>
            <a:pPr algn="ctr" marL="0" indent="0">
              <a:spcAft>
                <a:spcPts val="0"/>
              </a:spcAft>
              <a:buNone/>
            </a:pPr>
            <a:r>
              <a:rPr lang="en-US" sz="1300" i="1" dirty="0">
                <a:solidFill>
                  <a:srgbClr val="6D28D9"/>
                </a:solidFill>
                <a:latin typeface="Calibri"/>
                <a:cs typeface="Calibri"/>
              </a:rPr>
              <a:t>“Swipe gestures go the wrong way after an app install”</a:t>
            </a:r>
          </a:p>
        </p:txBody>
      </p:sp>
      <p:sp>
        <p:nvSpPr>
          <p:cNvPr id="16" name="Today card"/>
          <p:cNvSpPr/>
          <p:nvPr/>
        </p:nvSpPr>
        <p:spPr>
          <a:xfrm>
            <a:off x="822960" y="3611880"/>
            <a:ext cx="4754880" cy="2697480"/>
          </a:xfrm>
          <a:prstGeom prst="roundRect">
            <a:avLst>
              <a:gd name="adj" fmla="val 5000"/>
            </a:avLst>
          </a:prstGeom>
          <a:solidFill>
            <a:srgbClr val="F4F4F7"/>
          </a:solidFill>
          <a:ln w="12700">
            <a:solidFill>
              <a:srgbClr val="D9D3F0"/>
            </a:solidFill>
          </a:ln>
        </p:spPr>
        <p:txBody>
          <a:bodyPr rtlCol="0" anchor="ctr"/>
          <a:lstStyle/>
          <a:p>
            <a:endParaRPr lang="en-US"/>
          </a:p>
        </p:txBody>
      </p:sp>
      <p:sp>
        <p:nvSpPr>
          <p:cNvPr id="17" name="Today label"/>
          <p:cNvSpPr txBox="1"/>
          <p:nvPr/>
        </p:nvSpPr>
        <p:spPr>
          <a:xfrm>
            <a:off x="1097280" y="3749040"/>
            <a:ext cx="4206240" cy="274320"/>
          </a:xfrm>
          <a:prstGeom prst="rect">
            <a:avLst/>
          </a:prstGeom>
          <a:noFill/>
          <a:ln>
            <a:noFill/>
          </a:ln>
        </p:spPr>
        <p:txBody>
          <a:bodyPr wrap="square" lIns="0" tIns="0" rIns="0" bIns="0" rtlCol="0" anchor="t">
            <a:noAutofit/>
          </a:bodyPr>
          <a:lstStyle/>
          <a:p>
            <a:pPr algn="l" marL="0" indent="0">
              <a:spcAft>
                <a:spcPts val="0"/>
              </a:spcAft>
              <a:buNone/>
            </a:pPr>
            <a:r>
              <a:rPr lang="en-US" sz="1200" b="1" dirty="0">
                <a:solidFill>
                  <a:srgbClr val="63637E"/>
                </a:solidFill>
                <a:latin typeface="Calibri"/>
                <a:cs typeface="Calibri"/>
              </a:rPr>
              <a:t>TODAY: MANUAL TRIAGE</a:t>
            </a:r>
          </a:p>
        </p:txBody>
      </p:sp>
      <p:sp>
        <p:nvSpPr>
          <p:cNvPr id="18" name="Today stat"/>
          <p:cNvSpPr txBox="1"/>
          <p:nvPr/>
        </p:nvSpPr>
        <p:spPr>
          <a:xfrm>
            <a:off x="1097280" y="4023360"/>
            <a:ext cx="4206240" cy="731520"/>
          </a:xfrm>
          <a:prstGeom prst="rect">
            <a:avLst/>
          </a:prstGeom>
          <a:noFill/>
          <a:ln>
            <a:noFill/>
          </a:ln>
        </p:spPr>
        <p:txBody>
          <a:bodyPr wrap="square" lIns="0" tIns="0" rIns="0" bIns="0" rtlCol="0" anchor="ctr">
            <a:noAutofit/>
          </a:bodyPr>
          <a:lstStyle/>
          <a:p>
            <a:pPr algn="l" marL="0" indent="0">
              <a:spcAft>
                <a:spcPts val="0"/>
              </a:spcAft>
              <a:buNone/>
            </a:pPr>
            <a:r>
              <a:rPr lang="en-US" sz="4000" b="1" dirty="0">
                <a:solidFill>
                  <a:srgbClr val="63637E"/>
                </a:solidFill>
                <a:latin typeface="Calibri"/>
                <a:cs typeface="Calibri"/>
              </a:rPr>
              <a:t>~15 min</a:t>
            </a:r>
          </a:p>
        </p:txBody>
      </p:sp>
      <p:sp>
        <p:nvSpPr>
          <p:cNvPr id="19" name="Today caption"/>
          <p:cNvSpPr txBox="1"/>
          <p:nvPr/>
        </p:nvSpPr>
        <p:spPr>
          <a:xfrm>
            <a:off x="1097280" y="4754880"/>
            <a:ext cx="4206240" cy="320040"/>
          </a:xfrm>
          <a:prstGeom prst="rect">
            <a:avLst/>
          </a:prstGeom>
          <a:noFill/>
          <a:ln>
            <a:noFill/>
          </a:ln>
        </p:spPr>
        <p:txBody>
          <a:bodyPr wrap="square" lIns="0" tIns="0" rIns="0" bIns="0" rtlCol="0" anchor="t">
            <a:noAutofit/>
          </a:bodyPr>
          <a:lstStyle/>
          <a:p>
            <a:pPr algn="l" marL="0" indent="0">
              <a:spcAft>
                <a:spcPts val="0"/>
              </a:spcAft>
              <a:buNone/>
            </a:pPr>
            <a:r>
              <a:rPr lang="en-US" sz="1400" dirty="0">
                <a:solidFill>
                  <a:srgbClr val="63637E"/>
                </a:solidFill>
                <a:latin typeface="Calibri"/>
                <a:cs typeface="Calibri"/>
              </a:rPr>
              <a:t>per scenario, across millions of interactions</a:t>
            </a:r>
          </a:p>
        </p:txBody>
      </p:sp>
      <p:sp>
        <p:nvSpPr>
          <p:cNvPr id="20" name="Today steps"/>
          <p:cNvSpPr txBox="1"/>
          <p:nvPr/>
        </p:nvSpPr>
        <p:spPr>
          <a:xfrm>
            <a:off x="1097280" y="5166360"/>
            <a:ext cx="4206240" cy="1051560"/>
          </a:xfrm>
          <a:prstGeom prst="rect">
            <a:avLst/>
          </a:prstGeom>
          <a:noFill/>
          <a:ln>
            <a:noFill/>
          </a:ln>
        </p:spPr>
        <p:txBody>
          <a:bodyPr wrap="square" lIns="0" tIns="0" rIns="0" bIns="0" rtlCol="0" anchor="t">
            <a:noAutofit/>
          </a:bodyPr>
          <a:lstStyle/>
          <a:p>
            <a:pPr algn="l" marL="228600" indent="-228600">
              <a:spcAft>
                <a:spcPts val="300"/>
              </a:spcAft>
              <a:buFont typeface="Arial"/>
              <a:buChar char="•"/>
            </a:pPr>
            <a:r>
              <a:rPr lang="en-US" sz="1400" dirty="0">
                <a:solidFill>
                  <a:srgbClr val="63637E"/>
                </a:solidFill>
                <a:latin typeface="Calibri"/>
                <a:cs typeface="Calibri"/>
              </a:rPr>
              <a:t>Agent reads SIIS articles by hand</a:t>
            </a:r>
          </a:p>
          <a:p>
            <a:pPr algn="l" marL="228600" indent="-228600">
              <a:spcAft>
                <a:spcPts val="300"/>
              </a:spcAft>
              <a:buFont typeface="Arial"/>
              <a:buChar char="•"/>
            </a:pPr>
            <a:r>
              <a:rPr lang="en-US" sz="1400" dirty="0">
                <a:solidFill>
                  <a:srgbClr val="63637E"/>
                </a:solidFill>
                <a:latin typeface="Calibri"/>
                <a:cs typeface="Calibri"/>
              </a:rPr>
              <a:t>Agent diagnoses, picks and orders steps</a:t>
            </a:r>
          </a:p>
          <a:p>
            <a:pPr algn="l" marL="228600" indent="-228600">
              <a:spcAft>
                <a:spcPts val="0"/>
              </a:spcAft>
              <a:buFont typeface="Arial"/>
              <a:buChar char="•"/>
            </a:pPr>
            <a:r>
              <a:rPr lang="en-US" sz="1400" dirty="0">
                <a:solidFill>
                  <a:srgbClr val="63637E"/>
                </a:solidFill>
                <a:latin typeface="Calibri"/>
                <a:cs typeface="Calibri"/>
              </a:rPr>
              <a:t>Customer digs through nested Settings</a:t>
            </a:r>
          </a:p>
        </p:txBody>
      </p:sp>
      <p:cxnSp>
        <p:nvCxnSpPr>
          <p:cNvPr id="21" name="Transform arrow"/>
          <p:cNvCxnSpPr/>
          <p:nvPr/>
        </p:nvCxnSpPr>
        <p:spPr>
          <a:xfrm>
            <a:off x="5687568" y="4960620"/>
            <a:ext cx="786384" cy="0"/>
          </a:xfrm>
          <a:prstGeom prst="line">
            <a:avLst/>
          </a:prstGeom>
          <a:ln w="38100">
            <a:solidFill>
              <a:srgbClr val="6D28D9"/>
            </a:solidFill>
            <a:tailEnd type="triangle"/>
          </a:ln>
        </p:spPr>
      </p:cxnSp>
      <p:sp>
        <p:nvSpPr>
          <p:cNvPr id="22" name="Target card"/>
          <p:cNvSpPr/>
          <p:nvPr/>
        </p:nvSpPr>
        <p:spPr>
          <a:xfrm>
            <a:off x="6583680" y="3611880"/>
            <a:ext cx="4754880" cy="2697480"/>
          </a:xfrm>
          <a:prstGeom prst="roundRect">
            <a:avLst>
              <a:gd name="adj" fmla="val 5000"/>
            </a:avLst>
          </a:prstGeom>
          <a:solidFill>
            <a:srgbClr val="F3EEFC"/>
          </a:solidFill>
          <a:ln w="19050">
            <a:solidFill>
              <a:srgbClr val="6D28D9"/>
            </a:solidFill>
          </a:ln>
        </p:spPr>
        <p:txBody>
          <a:bodyPr rtlCol="0" anchor="ctr"/>
          <a:lstStyle/>
          <a:p>
            <a:endParaRPr lang="en-US"/>
          </a:p>
        </p:txBody>
      </p:sp>
      <p:sp>
        <p:nvSpPr>
          <p:cNvPr id="23" name="Target label"/>
          <p:cNvSpPr txBox="1"/>
          <p:nvPr/>
        </p:nvSpPr>
        <p:spPr>
          <a:xfrm>
            <a:off x="6858000" y="3749040"/>
            <a:ext cx="4206240" cy="274320"/>
          </a:xfrm>
          <a:prstGeom prst="rect">
            <a:avLst/>
          </a:prstGeom>
          <a:noFill/>
          <a:ln>
            <a:noFill/>
          </a:ln>
        </p:spPr>
        <p:txBody>
          <a:bodyPr wrap="square" lIns="0" tIns="0" rIns="0" bIns="0" rtlCol="0" anchor="t">
            <a:noAutofit/>
          </a:bodyPr>
          <a:lstStyle/>
          <a:p>
            <a:pPr algn="l" marL="0" indent="0">
              <a:spcAft>
                <a:spcPts val="0"/>
              </a:spcAft>
              <a:buNone/>
            </a:pPr>
            <a:r>
              <a:rPr lang="en-US" sz="1200" b="1" dirty="0">
                <a:solidFill>
                  <a:srgbClr val="6D28D9"/>
                </a:solidFill>
                <a:latin typeface="Calibri"/>
                <a:cs typeface="Calibri"/>
              </a:rPr>
              <a:t>TARGET: SMART GUIDED ENGINE</a:t>
            </a:r>
          </a:p>
        </p:txBody>
      </p:sp>
      <p:sp>
        <p:nvSpPr>
          <p:cNvPr id="24" name="Target stat"/>
          <p:cNvSpPr txBox="1"/>
          <p:nvPr/>
        </p:nvSpPr>
        <p:spPr>
          <a:xfrm>
            <a:off x="6858000" y="4023360"/>
            <a:ext cx="4206240" cy="731520"/>
          </a:xfrm>
          <a:prstGeom prst="rect">
            <a:avLst/>
          </a:prstGeom>
          <a:noFill/>
          <a:ln>
            <a:noFill/>
          </a:ln>
        </p:spPr>
        <p:txBody>
          <a:bodyPr wrap="square" lIns="0" tIns="0" rIns="0" bIns="0" rtlCol="0" anchor="ctr">
            <a:noAutofit/>
          </a:bodyPr>
          <a:lstStyle/>
          <a:p>
            <a:pPr algn="l" marL="0" indent="0">
              <a:spcAft>
                <a:spcPts val="0"/>
              </a:spcAft>
              <a:buNone/>
            </a:pPr>
            <a:r>
              <a:rPr lang="en-US" sz="4000" b="1" dirty="0">
                <a:solidFill>
                  <a:srgbClr val="6D28D9"/>
                </a:solidFill>
                <a:latin typeface="Calibri"/>
                <a:cs typeface="Calibri"/>
              </a:rPr>
              <a:t>&lt; 300 ms</a:t>
            </a:r>
          </a:p>
        </p:txBody>
      </p:sp>
      <p:sp>
        <p:nvSpPr>
          <p:cNvPr id="25" name="Target caption"/>
          <p:cNvSpPr txBox="1"/>
          <p:nvPr/>
        </p:nvSpPr>
        <p:spPr>
          <a:xfrm>
            <a:off x="6858000" y="4754880"/>
            <a:ext cx="4206240" cy="320040"/>
          </a:xfrm>
          <a:prstGeom prst="rect">
            <a:avLst/>
          </a:prstGeom>
          <a:noFill/>
          <a:ln>
            <a:noFill/>
          </a:ln>
        </p:spPr>
        <p:txBody>
          <a:bodyPr wrap="square" lIns="0" tIns="0" rIns="0" bIns="0" rtlCol="0" anchor="t">
            <a:noAutofit/>
          </a:bodyPr>
          <a:lstStyle/>
          <a:p>
            <a:pPr algn="l" marL="0" indent="0">
              <a:spcAft>
                <a:spcPts val="0"/>
              </a:spcAft>
              <a:buNone/>
            </a:pPr>
            <a:r>
              <a:rPr lang="en-US" sz="1400" dirty="0">
                <a:solidFill>
                  <a:srgbClr val="63637E"/>
                </a:solidFill>
                <a:latin typeface="Calibri"/>
                <a:cs typeface="Calibri"/>
              </a:rPr>
              <a:t>for previously seen issues</a:t>
            </a:r>
          </a:p>
        </p:txBody>
      </p:sp>
      <p:sp>
        <p:nvSpPr>
          <p:cNvPr id="26" name="Target steps"/>
          <p:cNvSpPr txBox="1"/>
          <p:nvPr/>
        </p:nvSpPr>
        <p:spPr>
          <a:xfrm>
            <a:off x="6858000" y="5166360"/>
            <a:ext cx="4206240" cy="1051560"/>
          </a:xfrm>
          <a:prstGeom prst="rect">
            <a:avLst/>
          </a:prstGeom>
          <a:noFill/>
          <a:ln>
            <a:noFill/>
          </a:ln>
        </p:spPr>
        <p:txBody>
          <a:bodyPr wrap="square" lIns="0" tIns="0" rIns="0" bIns="0" rtlCol="0" anchor="t">
            <a:noAutofit/>
          </a:bodyPr>
          <a:lstStyle/>
          <a:p>
            <a:pPr algn="l" marL="228600" indent="-228600">
              <a:spcAft>
                <a:spcPts val="300"/>
              </a:spcAft>
              <a:buFont typeface="Arial"/>
              <a:buChar char="•"/>
            </a:pPr>
            <a:r>
              <a:rPr lang="en-US" sz="1400" dirty="0">
                <a:solidFill>
                  <a:srgbClr val="14142B"/>
                </a:solidFill>
                <a:latin typeface="Calibri"/>
                <a:cs typeface="Calibri"/>
              </a:rPr>
              <a:t>Granular, screen-specific actions</a:t>
            </a:r>
          </a:p>
          <a:p>
            <a:pPr algn="l" marL="228600" indent="-228600">
              <a:spcAft>
                <a:spcPts val="300"/>
              </a:spcAft>
              <a:buFont typeface="Arial"/>
              <a:buChar char="•"/>
            </a:pPr>
            <a:r>
              <a:rPr lang="en-US" sz="1400" dirty="0">
                <a:solidFill>
                  <a:srgbClr val="14142B"/>
                </a:solidFill>
                <a:latin typeface="Calibri"/>
                <a:cs typeface="Calibri"/>
              </a:rPr>
              <a:t>Least disruptive first, resets last</a:t>
            </a:r>
          </a:p>
          <a:p>
            <a:pPr algn="l" marL="228600" indent="-228600">
              <a:spcAft>
                <a:spcPts val="0"/>
              </a:spcAft>
              <a:buFont typeface="Arial"/>
              <a:buChar char="•"/>
            </a:pPr>
            <a:r>
              <a:rPr lang="en-US" sz="1400" dirty="0">
                <a:solidFill>
                  <a:srgbClr val="14142B"/>
                </a:solidFill>
                <a:latin typeface="Calibri"/>
                <a:cs typeface="Calibri"/>
              </a:rPr>
              <a:t>Verified bixby:// deeplink per step</a:t>
            </a:r>
          </a:p>
        </p:txBody>
      </p:sp>
    </p:spTree>
    <p:extLst>
      <p:ext uri="{BB962C8B-B14F-4D97-AF65-F5344CB8AC3E}">
        <p14:creationId xmlns:p14="http://schemas.microsoft.com/office/powerpoint/2010/main" val="25647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Existing Solutions &amp; Gaps</a:t>
            </a:r>
          </a:p>
        </p:txBody>
      </p:sp>
      <p:sp>
        <p:nvSpPr>
          <p:cNvPr id="27" name="Header 1"/>
          <p:cNvSpPr/>
          <p:nvPr/>
        </p:nvSpPr>
        <p:spPr>
          <a:xfrm>
            <a:off x="822960" y="1554480"/>
            <a:ext cx="2743200" cy="384048"/>
          </a:xfrm>
          <a:prstGeom prst="rect">
            <a:avLst/>
          </a:prstGeom>
          <a:solidFill>
            <a:srgbClr val="6D28D9"/>
          </a:solidFill>
          <a:ln>
            <a:noFill/>
          </a:ln>
        </p:spPr>
        <p:txBody>
          <a:bodyPr wrap="square" lIns="137160" tIns="0" rIns="91440" bIns="0" rtlCol="0" anchor="ctr">
            <a:noAutofit/>
          </a:bodyPr>
          <a:lstStyle/>
          <a:p>
            <a:pPr algn="l" marL="0" indent="0">
              <a:spcAft>
                <a:spcPts val="0"/>
              </a:spcAft>
              <a:buNone/>
            </a:pPr>
            <a:r>
              <a:rPr lang="en-US" sz="1200" b="1" dirty="0">
                <a:solidFill>
                  <a:srgbClr val="FFFFFF"/>
                </a:solidFill>
                <a:latin typeface="Calibri"/>
                <a:cs typeface="Calibri"/>
              </a:rPr>
              <a:t>EXISTING APPROACH</a:t>
            </a:r>
          </a:p>
        </p:txBody>
      </p:sp>
      <p:sp>
        <p:nvSpPr>
          <p:cNvPr id="28" name="Header 2"/>
          <p:cNvSpPr/>
          <p:nvPr/>
        </p:nvSpPr>
        <p:spPr>
          <a:xfrm>
            <a:off x="3611880" y="1554480"/>
            <a:ext cx="3566160" cy="384048"/>
          </a:xfrm>
          <a:prstGeom prst="rect">
            <a:avLst/>
          </a:prstGeom>
          <a:solidFill>
            <a:srgbClr val="6D28D9"/>
          </a:solidFill>
          <a:ln>
            <a:noFill/>
          </a:ln>
        </p:spPr>
        <p:txBody>
          <a:bodyPr wrap="square" lIns="137160" tIns="0" rIns="91440" bIns="0" rtlCol="0" anchor="ctr">
            <a:noAutofit/>
          </a:bodyPr>
          <a:lstStyle/>
          <a:p>
            <a:pPr algn="l" marL="0" indent="0">
              <a:spcAft>
                <a:spcPts val="0"/>
              </a:spcAft>
              <a:buNone/>
            </a:pPr>
            <a:r>
              <a:rPr lang="en-US" sz="1200" b="1" dirty="0">
                <a:solidFill>
                  <a:srgbClr val="FFFFFF"/>
                </a:solidFill>
                <a:latin typeface="Calibri"/>
                <a:cs typeface="Calibri"/>
              </a:rPr>
              <a:t>WHAT IT DOES</a:t>
            </a:r>
          </a:p>
        </p:txBody>
      </p:sp>
      <p:sp>
        <p:nvSpPr>
          <p:cNvPr id="29" name="Header 3"/>
          <p:cNvSpPr/>
          <p:nvPr/>
        </p:nvSpPr>
        <p:spPr>
          <a:xfrm>
            <a:off x="7223760" y="1554480"/>
            <a:ext cx="4114800" cy="384048"/>
          </a:xfrm>
          <a:prstGeom prst="rect">
            <a:avLst/>
          </a:prstGeom>
          <a:solidFill>
            <a:srgbClr val="6D28D9"/>
          </a:solidFill>
          <a:ln>
            <a:noFill/>
          </a:ln>
        </p:spPr>
        <p:txBody>
          <a:bodyPr wrap="square" lIns="137160" tIns="0" rIns="91440" bIns="0" rtlCol="0" anchor="ctr">
            <a:noAutofit/>
          </a:bodyPr>
          <a:lstStyle/>
          <a:p>
            <a:pPr algn="l" marL="0" indent="0">
              <a:spcAft>
                <a:spcPts val="0"/>
              </a:spcAft>
              <a:buNone/>
            </a:pPr>
            <a:r>
              <a:rPr lang="en-US" sz="1200" b="1" dirty="0">
                <a:solidFill>
                  <a:srgbClr val="FFFFFF"/>
                </a:solidFill>
                <a:latin typeface="Calibri"/>
                <a:cs typeface="Calibri"/>
              </a:rPr>
              <a:t>THE GAP</a:t>
            </a:r>
          </a:p>
        </p:txBody>
      </p:sp>
      <p:sp>
        <p:nvSpPr>
          <p:cNvPr id="30" name="Row 1 band"/>
          <p:cNvSpPr/>
          <p:nvPr/>
        </p:nvSpPr>
        <p:spPr>
          <a:xfrm>
            <a:off x="822960" y="2029968"/>
            <a:ext cx="10515600" cy="804672"/>
          </a:xfrm>
          <a:prstGeom prst="rect">
            <a:avLst/>
          </a:prstGeom>
          <a:solidFill>
            <a:srgbClr val="F3EEFC"/>
          </a:solidFill>
          <a:ln w="9525">
            <a:solidFill>
              <a:srgbClr val="D9D3F0"/>
            </a:solidFill>
          </a:ln>
        </p:spPr>
        <p:txBody>
          <a:bodyPr rtlCol="0" anchor="ctr"/>
          <a:lstStyle/>
          <a:p>
            <a:endParaRPr lang="en-US"/>
          </a:p>
        </p:txBody>
      </p:sp>
      <p:sp>
        <p:nvSpPr>
          <p:cNvPr id="31" name="Row 1 approach"/>
          <p:cNvSpPr txBox="1"/>
          <p:nvPr/>
        </p:nvSpPr>
        <p:spPr>
          <a:xfrm>
            <a:off x="822960" y="2029968"/>
            <a:ext cx="2743200" cy="804672"/>
          </a:xfrm>
          <a:prstGeom prst="rect">
            <a:avLst/>
          </a:prstGeom>
          <a:noFill/>
          <a:ln>
            <a:noFill/>
          </a:ln>
        </p:spPr>
        <p:txBody>
          <a:bodyPr wrap="square" lIns="137160" tIns="0" rIns="91440" bIns="0" rtlCol="0" anchor="ctr">
            <a:noAutofit/>
          </a:bodyPr>
          <a:lstStyle/>
          <a:p>
            <a:pPr algn="l" marL="0" indent="0">
              <a:spcAft>
                <a:spcPts val="0"/>
              </a:spcAft>
              <a:buNone/>
            </a:pPr>
            <a:r>
              <a:rPr lang="en-US" sz="1500" b="1" dirty="0">
                <a:solidFill>
                  <a:srgbClr val="14142B"/>
                </a:solidFill>
                <a:latin typeface="Calibri"/>
                <a:cs typeface="Calibri"/>
              </a:rPr>
              <a:t>Manual agent triage</a:t>
            </a:r>
          </a:p>
        </p:txBody>
      </p:sp>
      <p:sp>
        <p:nvSpPr>
          <p:cNvPr id="32" name="Row 1 does"/>
          <p:cNvSpPr txBox="1"/>
          <p:nvPr/>
        </p:nvSpPr>
        <p:spPr>
          <a:xfrm>
            <a:off x="3611880" y="2029968"/>
            <a:ext cx="3474720" cy="804672"/>
          </a:xfrm>
          <a:prstGeom prst="rect">
            <a:avLst/>
          </a:prstGeom>
          <a:noFill/>
          <a:ln>
            <a:noFill/>
          </a:ln>
        </p:spPr>
        <p:txBody>
          <a:bodyPr wrap="square" lIns="45720" tIns="0" rIns="91440" bIns="0" rtlCol="0" anchor="ctr">
            <a:noAutofit/>
          </a:bodyPr>
          <a:lstStyle/>
          <a:p>
            <a:pPr algn="l" marL="0" indent="0">
              <a:spcAft>
                <a:spcPts val="0"/>
              </a:spcAft>
              <a:buNone/>
            </a:pPr>
            <a:r>
              <a:rPr lang="en-US" sz="1400" dirty="0">
                <a:solidFill>
                  <a:srgbClr val="63637E"/>
                </a:solidFill>
                <a:latin typeface="Calibri"/>
                <a:cs typeface="Calibri"/>
              </a:rPr>
              <a:t>Agent reads SIIS articles, then picks and orders steps by hand</a:t>
            </a:r>
          </a:p>
        </p:txBody>
      </p:sp>
      <p:sp>
        <p:nvSpPr>
          <p:cNvPr id="33" name="Row 1 gap"/>
          <p:cNvSpPr txBox="1"/>
          <p:nvPr/>
        </p:nvSpPr>
        <p:spPr>
          <a:xfrm>
            <a:off x="7223760" y="2029968"/>
            <a:ext cx="4023360" cy="804672"/>
          </a:xfrm>
          <a:prstGeom prst="rect">
            <a:avLst/>
          </a:prstGeom>
          <a:noFill/>
          <a:ln>
            <a:noFill/>
          </a:ln>
        </p:spPr>
        <p:txBody>
          <a:bodyPr wrap="square" lIns="45720" tIns="0" rIns="91440" bIns="0" rtlCol="0" anchor="ctr">
            <a:noAutofit/>
          </a:bodyPr>
          <a:lstStyle/>
          <a:p>
            <a:pPr algn="l" marL="0" indent="0">
              <a:spcAft>
                <a:spcPts val="0"/>
              </a:spcAft>
              <a:buNone/>
            </a:pPr>
            <a:r>
              <a:rPr lang="en-US" sz="1400" dirty="0">
                <a:solidFill>
                  <a:srgbClr val="14142B"/>
                </a:solidFill>
                <a:latin typeface="Calibri"/>
                <a:cs typeface="Calibri"/>
              </a:rPr>
              <a:t>~15 min per case, quality varies by agent, does not scale</a:t>
            </a:r>
          </a:p>
        </p:txBody>
      </p:sp>
      <p:sp>
        <p:nvSpPr>
          <p:cNvPr id="34" name="Row 2 band"/>
          <p:cNvSpPr/>
          <p:nvPr/>
        </p:nvSpPr>
        <p:spPr>
          <a:xfrm>
            <a:off x="822960" y="2907792"/>
            <a:ext cx="10515600" cy="804672"/>
          </a:xfrm>
          <a:prstGeom prst="rect">
            <a:avLst/>
          </a:prstGeom>
          <a:solidFill>
            <a:srgbClr val="FFFFFF"/>
          </a:solidFill>
          <a:ln w="9525">
            <a:solidFill>
              <a:srgbClr val="D9D3F0"/>
            </a:solidFill>
          </a:ln>
        </p:spPr>
        <p:txBody>
          <a:bodyPr rtlCol="0" anchor="ctr"/>
          <a:lstStyle/>
          <a:p>
            <a:endParaRPr lang="en-US"/>
          </a:p>
        </p:txBody>
      </p:sp>
      <p:sp>
        <p:nvSpPr>
          <p:cNvPr id="35" name="Row 2 approach"/>
          <p:cNvSpPr txBox="1"/>
          <p:nvPr/>
        </p:nvSpPr>
        <p:spPr>
          <a:xfrm>
            <a:off x="822960" y="2907792"/>
            <a:ext cx="2743200" cy="804672"/>
          </a:xfrm>
          <a:prstGeom prst="rect">
            <a:avLst/>
          </a:prstGeom>
          <a:noFill/>
          <a:ln>
            <a:noFill/>
          </a:ln>
        </p:spPr>
        <p:txBody>
          <a:bodyPr wrap="square" lIns="137160" tIns="0" rIns="91440" bIns="0" rtlCol="0" anchor="ctr">
            <a:noAutofit/>
          </a:bodyPr>
          <a:lstStyle/>
          <a:p>
            <a:pPr algn="l" marL="0" indent="0">
              <a:spcAft>
                <a:spcPts val="0"/>
              </a:spcAft>
              <a:buNone/>
            </a:pPr>
            <a:r>
              <a:rPr lang="en-US" sz="1500" b="1" dirty="0">
                <a:solidFill>
                  <a:srgbClr val="14142B"/>
                </a:solidFill>
                <a:latin typeface="Calibri"/>
                <a:cs typeface="Calibri"/>
              </a:rPr>
              <a:t>Keyword FAQ and search</a:t>
            </a:r>
          </a:p>
        </p:txBody>
      </p:sp>
      <p:sp>
        <p:nvSpPr>
          <p:cNvPr id="36" name="Row 2 does"/>
          <p:cNvSpPr txBox="1"/>
          <p:nvPr/>
        </p:nvSpPr>
        <p:spPr>
          <a:xfrm>
            <a:off x="3611880" y="2907792"/>
            <a:ext cx="3474720" cy="804672"/>
          </a:xfrm>
          <a:prstGeom prst="rect">
            <a:avLst/>
          </a:prstGeom>
          <a:noFill/>
          <a:ln>
            <a:noFill/>
          </a:ln>
        </p:spPr>
        <p:txBody>
          <a:bodyPr wrap="square" lIns="45720" tIns="0" rIns="91440" bIns="0" rtlCol="0" anchor="ctr">
            <a:noAutofit/>
          </a:bodyPr>
          <a:lstStyle/>
          <a:p>
            <a:pPr algn="l" marL="0" indent="0">
              <a:spcAft>
                <a:spcPts val="0"/>
              </a:spcAft>
              <a:buNone/>
            </a:pPr>
            <a:r>
              <a:rPr lang="en-US" sz="1400" dirty="0">
                <a:solidFill>
                  <a:srgbClr val="63637E"/>
                </a:solidFill>
                <a:latin typeface="Calibri"/>
                <a:cs typeface="Calibri"/>
              </a:rPr>
              <a:t>Matches exact words against help pages</a:t>
            </a:r>
          </a:p>
        </p:txBody>
      </p:sp>
      <p:sp>
        <p:nvSpPr>
          <p:cNvPr id="37" name="Row 2 gap"/>
          <p:cNvSpPr txBox="1"/>
          <p:nvPr/>
        </p:nvSpPr>
        <p:spPr>
          <a:xfrm>
            <a:off x="7223760" y="2907792"/>
            <a:ext cx="4023360" cy="804672"/>
          </a:xfrm>
          <a:prstGeom prst="rect">
            <a:avLst/>
          </a:prstGeom>
          <a:noFill/>
          <a:ln>
            <a:noFill/>
          </a:ln>
        </p:spPr>
        <p:txBody>
          <a:bodyPr wrap="square" lIns="45720" tIns="0" rIns="91440" bIns="0" rtlCol="0" anchor="ctr">
            <a:noAutofit/>
          </a:bodyPr>
          <a:lstStyle/>
          <a:p>
            <a:pPr algn="l" marL="0" indent="0">
              <a:spcAft>
                <a:spcPts val="0"/>
              </a:spcAft>
              <a:buNone/>
            </a:pPr>
            <a:r>
              <a:rPr lang="en-US" sz="1400" dirty="0">
                <a:solidFill>
                  <a:srgbClr val="14142B"/>
                </a:solidFill>
                <a:latin typeface="Calibri"/>
                <a:cs typeface="Calibri"/>
              </a:rPr>
              <a:t>Misses colloquial phrasing; returns articles, not ordered steps</a:t>
            </a:r>
          </a:p>
        </p:txBody>
      </p:sp>
      <p:sp>
        <p:nvSpPr>
          <p:cNvPr id="38" name="Row 3 band"/>
          <p:cNvSpPr/>
          <p:nvPr/>
        </p:nvSpPr>
        <p:spPr>
          <a:xfrm>
            <a:off x="822960" y="3785616"/>
            <a:ext cx="10515600" cy="804672"/>
          </a:xfrm>
          <a:prstGeom prst="rect">
            <a:avLst/>
          </a:prstGeom>
          <a:solidFill>
            <a:srgbClr val="F3EEFC"/>
          </a:solidFill>
          <a:ln w="9525">
            <a:solidFill>
              <a:srgbClr val="D9D3F0"/>
            </a:solidFill>
          </a:ln>
        </p:spPr>
        <p:txBody>
          <a:bodyPr rtlCol="0" anchor="ctr"/>
          <a:lstStyle/>
          <a:p>
            <a:endParaRPr lang="en-US"/>
          </a:p>
        </p:txBody>
      </p:sp>
      <p:sp>
        <p:nvSpPr>
          <p:cNvPr id="39" name="Row 3 approach"/>
          <p:cNvSpPr txBox="1"/>
          <p:nvPr/>
        </p:nvSpPr>
        <p:spPr>
          <a:xfrm>
            <a:off x="822960" y="3785616"/>
            <a:ext cx="2743200" cy="804672"/>
          </a:xfrm>
          <a:prstGeom prst="rect">
            <a:avLst/>
          </a:prstGeom>
          <a:noFill/>
          <a:ln>
            <a:noFill/>
          </a:ln>
        </p:spPr>
        <p:txBody>
          <a:bodyPr wrap="square" lIns="137160" tIns="0" rIns="91440" bIns="0" rtlCol="0" anchor="ctr">
            <a:noAutofit/>
          </a:bodyPr>
          <a:lstStyle/>
          <a:p>
            <a:pPr algn="l" marL="0" indent="0">
              <a:spcAft>
                <a:spcPts val="0"/>
              </a:spcAft>
              <a:buNone/>
            </a:pPr>
            <a:r>
              <a:rPr lang="en-US" sz="1500" b="1" dirty="0">
                <a:solidFill>
                  <a:srgbClr val="14142B"/>
                </a:solidFill>
                <a:latin typeface="Calibri"/>
                <a:cs typeface="Calibri"/>
              </a:rPr>
              <a:t>Plain LLM chatbot</a:t>
            </a:r>
          </a:p>
        </p:txBody>
      </p:sp>
      <p:sp>
        <p:nvSpPr>
          <p:cNvPr id="40" name="Row 3 does"/>
          <p:cNvSpPr txBox="1"/>
          <p:nvPr/>
        </p:nvSpPr>
        <p:spPr>
          <a:xfrm>
            <a:off x="3611880" y="3785616"/>
            <a:ext cx="3474720" cy="804672"/>
          </a:xfrm>
          <a:prstGeom prst="rect">
            <a:avLst/>
          </a:prstGeom>
          <a:noFill/>
          <a:ln>
            <a:noFill/>
          </a:ln>
        </p:spPr>
        <p:txBody>
          <a:bodyPr wrap="square" lIns="45720" tIns="0" rIns="91440" bIns="0" rtlCol="0" anchor="ctr">
            <a:noAutofit/>
          </a:bodyPr>
          <a:lstStyle/>
          <a:p>
            <a:pPr algn="l" marL="0" indent="0">
              <a:spcAft>
                <a:spcPts val="0"/>
              </a:spcAft>
              <a:buNone/>
            </a:pPr>
            <a:r>
              <a:rPr lang="en-US" sz="1400" dirty="0">
                <a:solidFill>
                  <a:srgbClr val="63637E"/>
                </a:solidFill>
                <a:latin typeface="Calibri"/>
                <a:cs typeface="Calibri"/>
              </a:rPr>
              <a:t>Generates fluent troubleshooting answers</a:t>
            </a:r>
          </a:p>
        </p:txBody>
      </p:sp>
      <p:sp>
        <p:nvSpPr>
          <p:cNvPr id="41" name="Row 3 gap"/>
          <p:cNvSpPr txBox="1"/>
          <p:nvPr/>
        </p:nvSpPr>
        <p:spPr>
          <a:xfrm>
            <a:off x="7223760" y="3785616"/>
            <a:ext cx="4023360" cy="804672"/>
          </a:xfrm>
          <a:prstGeom prst="rect">
            <a:avLst/>
          </a:prstGeom>
          <a:noFill/>
          <a:ln>
            <a:noFill/>
          </a:ln>
        </p:spPr>
        <p:txBody>
          <a:bodyPr wrap="square" lIns="45720" tIns="0" rIns="91440" bIns="0" rtlCol="0" anchor="ctr">
            <a:noAutofit/>
          </a:bodyPr>
          <a:lstStyle/>
          <a:p>
            <a:pPr algn="l" marL="0" indent="0">
              <a:spcAft>
                <a:spcPts val="0"/>
              </a:spcAft>
              <a:buNone/>
            </a:pPr>
            <a:r>
              <a:rPr lang="en-US" sz="1400" dirty="0">
                <a:solidFill>
                  <a:srgbClr val="14142B"/>
                </a:solidFill>
                <a:latin typeface="Calibri"/>
                <a:cs typeface="Calibri"/>
              </a:rPr>
              <a:t>Can invent steps and web links; no verified Settings screens; slow and costly per query</a:t>
            </a:r>
          </a:p>
        </p:txBody>
      </p:sp>
      <p:sp>
        <p:nvSpPr>
          <p:cNvPr id="42" name="Row 4 band"/>
          <p:cNvSpPr/>
          <p:nvPr/>
        </p:nvSpPr>
        <p:spPr>
          <a:xfrm>
            <a:off x="822960" y="4663440"/>
            <a:ext cx="10515600" cy="804672"/>
          </a:xfrm>
          <a:prstGeom prst="rect">
            <a:avLst/>
          </a:prstGeom>
          <a:solidFill>
            <a:srgbClr val="FFFFFF"/>
          </a:solidFill>
          <a:ln w="9525">
            <a:solidFill>
              <a:srgbClr val="D9D3F0"/>
            </a:solidFill>
          </a:ln>
        </p:spPr>
        <p:txBody>
          <a:bodyPr rtlCol="0" anchor="ctr"/>
          <a:lstStyle/>
          <a:p>
            <a:endParaRPr lang="en-US"/>
          </a:p>
        </p:txBody>
      </p:sp>
      <p:sp>
        <p:nvSpPr>
          <p:cNvPr id="43" name="Row 4 approach"/>
          <p:cNvSpPr txBox="1"/>
          <p:nvPr/>
        </p:nvSpPr>
        <p:spPr>
          <a:xfrm>
            <a:off x="822960" y="4663440"/>
            <a:ext cx="2743200" cy="804672"/>
          </a:xfrm>
          <a:prstGeom prst="rect">
            <a:avLst/>
          </a:prstGeom>
          <a:noFill/>
          <a:ln>
            <a:noFill/>
          </a:ln>
        </p:spPr>
        <p:txBody>
          <a:bodyPr wrap="square" lIns="137160" tIns="0" rIns="91440" bIns="0" rtlCol="0" anchor="ctr">
            <a:noAutofit/>
          </a:bodyPr>
          <a:lstStyle/>
          <a:p>
            <a:pPr algn="l" marL="0" indent="0">
              <a:spcAft>
                <a:spcPts val="0"/>
              </a:spcAft>
              <a:buNone/>
            </a:pPr>
            <a:r>
              <a:rPr lang="en-US" sz="1500" b="1" dirty="0">
                <a:solidFill>
                  <a:srgbClr val="14142B"/>
                </a:solidFill>
                <a:latin typeface="Calibri"/>
                <a:cs typeface="Calibri"/>
              </a:rPr>
              <a:t>Text-only instructions</a:t>
            </a:r>
          </a:p>
        </p:txBody>
      </p:sp>
      <p:sp>
        <p:nvSpPr>
          <p:cNvPr id="44" name="Row 4 does"/>
          <p:cNvSpPr txBox="1"/>
          <p:nvPr/>
        </p:nvSpPr>
        <p:spPr>
          <a:xfrm>
            <a:off x="3611880" y="4663440"/>
            <a:ext cx="3474720" cy="804672"/>
          </a:xfrm>
          <a:prstGeom prst="rect">
            <a:avLst/>
          </a:prstGeom>
          <a:noFill/>
          <a:ln>
            <a:noFill/>
          </a:ln>
        </p:spPr>
        <p:txBody>
          <a:bodyPr wrap="square" lIns="45720" tIns="0" rIns="91440" bIns="0" rtlCol="0" anchor="ctr">
            <a:noAutofit/>
          </a:bodyPr>
          <a:lstStyle/>
          <a:p>
            <a:pPr algn="l" marL="0" indent="0">
              <a:spcAft>
                <a:spcPts val="0"/>
              </a:spcAft>
              <a:buNone/>
            </a:pPr>
            <a:r>
              <a:rPr lang="en-US" sz="1400" dirty="0">
                <a:solidFill>
                  <a:srgbClr val="63637E"/>
                </a:solidFill>
                <a:latin typeface="Calibri"/>
                <a:cs typeface="Calibri"/>
              </a:rPr>
              <a:t>“Go to Settings &gt; Display &gt; Navigation bar”</a:t>
            </a:r>
          </a:p>
        </p:txBody>
      </p:sp>
      <p:sp>
        <p:nvSpPr>
          <p:cNvPr id="45" name="Row 4 gap"/>
          <p:cNvSpPr txBox="1"/>
          <p:nvPr/>
        </p:nvSpPr>
        <p:spPr>
          <a:xfrm>
            <a:off x="7223760" y="4663440"/>
            <a:ext cx="4023360" cy="804672"/>
          </a:xfrm>
          <a:prstGeom prst="rect">
            <a:avLst/>
          </a:prstGeom>
          <a:noFill/>
          <a:ln>
            <a:noFill/>
          </a:ln>
        </p:spPr>
        <p:txBody>
          <a:bodyPr wrap="square" lIns="45720" tIns="0" rIns="91440" bIns="0" rtlCol="0" anchor="ctr">
            <a:noAutofit/>
          </a:bodyPr>
          <a:lstStyle/>
          <a:p>
            <a:pPr algn="l" marL="0" indent="0">
              <a:spcAft>
                <a:spcPts val="0"/>
              </a:spcAft>
              <a:buNone/>
            </a:pPr>
            <a:r>
              <a:rPr lang="en-US" sz="1400" dirty="0">
                <a:solidFill>
                  <a:srgbClr val="14142B"/>
                </a:solidFill>
                <a:latin typeface="Calibri"/>
                <a:cs typeface="Calibri"/>
              </a:rPr>
              <a:t>Customer must navigate nested menus alone, so steps get abandoned</a:t>
            </a:r>
          </a:p>
        </p:txBody>
      </p:sp>
      <p:sp>
        <p:nvSpPr>
          <p:cNvPr id="46" name="Gap we close"/>
          <p:cNvSpPr/>
          <p:nvPr/>
        </p:nvSpPr>
        <p:spPr>
          <a:xfrm>
            <a:off x="822960" y="5650992"/>
            <a:ext cx="10515600" cy="658368"/>
          </a:xfrm>
          <a:prstGeom prst="roundRect">
            <a:avLst>
              <a:gd name="adj" fmla="val 12000"/>
            </a:avLst>
          </a:prstGeom>
          <a:solidFill>
            <a:srgbClr val="6D28D9"/>
          </a:solidFill>
          <a:ln>
            <a:noFill/>
          </a:ln>
        </p:spPr>
        <p:txBody>
          <a:bodyPr wrap="square" lIns="228600" tIns="27432" rIns="228600" bIns="27432" rtlCol="0" anchor="ctr">
            <a:noAutofit/>
          </a:bodyPr>
          <a:lstStyle/>
          <a:p>
            <a:pPr algn="l" marL="0" indent="0">
              <a:spcAft>
                <a:spcPts val="0"/>
              </a:spcAft>
              <a:buNone/>
            </a:pPr>
            <a:r>
              <a:rPr lang="en-US" sz="1500" b="1" dirty="0">
                <a:solidFill>
                  <a:srgbClr val="FFFFFF"/>
                </a:solidFill>
                <a:latin typeface="Calibri"/>
                <a:cs typeface="Calibri"/>
              </a:rPr>
              <a:t>Our engine closes the gap: </a:t>
            </a:r>
            <a:r>
              <a:rPr lang="en-US" sz="1500" dirty="0">
                <a:solidFill>
                  <a:srgbClr val="FFFFFF"/>
                </a:solidFill>
                <a:latin typeface="Calibri"/>
                <a:cs typeface="Calibri"/>
              </a:rPr>
              <a:t>semantic understanding + catalog-verified deeplinks + a cache-first fast path.</a:t>
            </a:r>
          </a:p>
        </p:txBody>
      </p:sp>
    </p:spTree>
    <p:extLst>
      <p:ext uri="{BB962C8B-B14F-4D97-AF65-F5344CB8AC3E}">
        <p14:creationId xmlns:p14="http://schemas.microsoft.com/office/powerpoint/2010/main" val="154997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909917" y="266513"/>
            <a:ext cx="10515600" cy="1325563"/>
          </a:xfrm>
        </p:spPr>
        <p:txBody>
          <a:bodyPr/>
          <a:lstStyle/>
          <a:p>
            <a:r>
              <a:rPr lang="en-IN" b="1" dirty="0">
                <a:solidFill>
                  <a:srgbClr val="704EA6"/>
                </a:solidFill>
                <a:latin typeface="+mn-lt"/>
              </a:rPr>
              <a:t>Our Solutions &amp; Architecture Diagram</a:t>
            </a:r>
          </a:p>
        </p:txBody>
      </p:sp>
      <p:sp>
        <p:nvSpPr>
          <p:cNvPr id="47" name="Top box 1"/>
          <p:cNvSpPr/>
          <p:nvPr/>
        </p:nvSpPr>
        <p:spPr>
          <a:xfrm>
            <a:off x="822960" y="1554480"/>
            <a:ext cx="2286000" cy="914400"/>
          </a:xfrm>
          <a:prstGeom prst="roundRect">
            <a:avLst>
              <a:gd name="adj" fmla="val 10000"/>
            </a:avLst>
          </a:prstGeom>
          <a:solidFill>
            <a:srgbClr val="FFFFFF"/>
          </a:solidFill>
          <a:ln w="19050">
            <a:solidFill>
              <a:srgbClr val="6D28D9"/>
            </a:solidFill>
          </a:ln>
        </p:spPr>
        <p:txBody>
          <a:bodyPr wrap="square" lIns="73152" tIns="36576" rIns="73152" bIns="36576" rtlCol="0" anchor="ctr">
            <a:noAutofit/>
          </a:bodyPr>
          <a:lstStyle/>
          <a:p>
            <a:pPr algn="ctr" marL="0" indent="0">
              <a:spcAft>
                <a:spcPts val="0"/>
              </a:spcAft>
              <a:buNone/>
            </a:pPr>
            <a:r>
              <a:rPr lang="en-US" sz="1500" b="1" dirty="0">
                <a:solidFill>
                  <a:srgbClr val="14142B"/>
                </a:solidFill>
                <a:latin typeface="Calibri"/>
                <a:cs typeface="Calibri"/>
              </a:rPr>
              <a:t>Customer complaint</a:t>
            </a:r>
          </a:p>
          <a:p>
            <a:pPr algn="ctr" marL="0" indent="0">
              <a:spcAft>
                <a:spcPts val="0"/>
              </a:spcAft>
              <a:buNone/>
            </a:pPr>
            <a:r>
              <a:rPr lang="en-US" sz="1200" dirty="0">
                <a:solidFill>
                  <a:srgbClr val="63637E"/>
                </a:solidFill>
                <a:latin typeface="Calibri"/>
                <a:cs typeface="Calibri"/>
              </a:rPr>
              <a:t>+ optional SIIS text</a:t>
            </a:r>
          </a:p>
        </p:txBody>
      </p:sp>
      <p:sp>
        <p:nvSpPr>
          <p:cNvPr id="48" name="Top box 2"/>
          <p:cNvSpPr/>
          <p:nvPr/>
        </p:nvSpPr>
        <p:spPr>
          <a:xfrm>
            <a:off x="3566160" y="1554480"/>
            <a:ext cx="2286000" cy="914400"/>
          </a:xfrm>
          <a:prstGeom prst="roundRect">
            <a:avLst>
              <a:gd name="adj" fmla="val 10000"/>
            </a:avLst>
          </a:prstGeom>
          <a:solidFill>
            <a:srgbClr val="FFFFFF"/>
          </a:solidFill>
          <a:ln w="19050">
            <a:solidFill>
              <a:srgbClr val="6D28D9"/>
            </a:solidFill>
          </a:ln>
        </p:spPr>
        <p:txBody>
          <a:bodyPr wrap="square" lIns="73152" tIns="36576" rIns="73152" bIns="36576" rtlCol="0" anchor="ctr">
            <a:noAutofit/>
          </a:bodyPr>
          <a:lstStyle/>
          <a:p>
            <a:pPr algn="ctr" marL="0" indent="0">
              <a:spcAft>
                <a:spcPts val="0"/>
              </a:spcAft>
              <a:buNone/>
            </a:pPr>
            <a:r>
              <a:rPr lang="en-US" sz="1500" b="1" dirty="0">
                <a:solidFill>
                  <a:srgbClr val="14142B"/>
                </a:solidFill>
                <a:latin typeface="Calibri"/>
                <a:cs typeface="Calibri"/>
              </a:rPr>
              <a:t>REST API</a:t>
            </a:r>
          </a:p>
          <a:p>
            <a:pPr algn="ctr" marL="0" indent="0">
              <a:spcAft>
                <a:spcPts val="0"/>
              </a:spcAft>
              <a:buNone/>
            </a:pPr>
            <a:r>
              <a:rPr lang="en-US" sz="1200" dirty="0">
                <a:solidFill>
                  <a:srgbClr val="63637E"/>
                </a:solidFill>
                <a:latin typeface="Calibri"/>
                <a:cs typeface="Calibri"/>
              </a:rPr>
              <a:t>POST /v1/troubleshoot</a:t>
            </a:r>
          </a:p>
        </p:txBody>
      </p:sp>
      <p:sp>
        <p:nvSpPr>
          <p:cNvPr id="49" name="Top box 3"/>
          <p:cNvSpPr/>
          <p:nvPr/>
        </p:nvSpPr>
        <p:spPr>
          <a:xfrm>
            <a:off x="6309360" y="1554480"/>
            <a:ext cx="2286000" cy="914400"/>
          </a:xfrm>
          <a:prstGeom prst="roundRect">
            <a:avLst>
              <a:gd name="adj" fmla="val 10000"/>
            </a:avLst>
          </a:prstGeom>
          <a:solidFill>
            <a:srgbClr val="6D28D9"/>
          </a:solidFill>
          <a:ln w="19050">
            <a:solidFill>
              <a:srgbClr val="6D28D9"/>
            </a:solidFill>
          </a:ln>
        </p:spPr>
        <p:txBody>
          <a:bodyPr wrap="square" lIns="73152" tIns="36576" rIns="73152" bIns="36576" rtlCol="0" anchor="ctr">
            <a:noAutofit/>
          </a:bodyPr>
          <a:lstStyle/>
          <a:p>
            <a:pPr algn="ctr" marL="0" indent="0">
              <a:spcAft>
                <a:spcPts val="0"/>
              </a:spcAft>
              <a:buNone/>
            </a:pPr>
            <a:r>
              <a:rPr lang="en-US" sz="1500" b="1" dirty="0">
                <a:solidFill>
                  <a:srgbClr val="FFFFFF"/>
                </a:solidFill>
                <a:latin typeface="Calibri"/>
                <a:cs typeface="Calibri"/>
              </a:rPr>
              <a:t>Semantic cache</a:t>
            </a:r>
          </a:p>
          <a:p>
            <a:pPr algn="ctr" marL="0" indent="0">
              <a:spcAft>
                <a:spcPts val="0"/>
              </a:spcAft>
              <a:buNone/>
            </a:pPr>
            <a:r>
              <a:rPr lang="en-US" sz="1200" dirty="0">
                <a:solidFill>
                  <a:srgbClr val="FFFFFF"/>
                </a:solidFill>
                <a:latin typeface="Calibri"/>
                <a:cs typeface="Calibri"/>
              </a:rPr>
              <a:t>FAISS + pre-warmed paraphrases</a:t>
            </a:r>
          </a:p>
        </p:txBody>
      </p:sp>
      <p:sp>
        <p:nvSpPr>
          <p:cNvPr id="50" name="Top box 4"/>
          <p:cNvSpPr/>
          <p:nvPr/>
        </p:nvSpPr>
        <p:spPr>
          <a:xfrm>
            <a:off x="9052560" y="1554480"/>
            <a:ext cx="2286000" cy="914400"/>
          </a:xfrm>
          <a:prstGeom prst="roundRect">
            <a:avLst>
              <a:gd name="adj" fmla="val 10000"/>
            </a:avLst>
          </a:prstGeom>
          <a:solidFill>
            <a:srgbClr val="FFFFFF"/>
          </a:solidFill>
          <a:ln w="19050">
            <a:solidFill>
              <a:srgbClr val="6D28D9"/>
            </a:solidFill>
          </a:ln>
        </p:spPr>
        <p:txBody>
          <a:bodyPr wrap="square" lIns="73152" tIns="36576" rIns="73152" bIns="36576" rtlCol="0" anchor="ctr">
            <a:noAutofit/>
          </a:bodyPr>
          <a:lstStyle/>
          <a:p>
            <a:pPr algn="ctr" marL="0" indent="0">
              <a:spcAft>
                <a:spcPts val="0"/>
              </a:spcAft>
              <a:buNone/>
            </a:pPr>
            <a:r>
              <a:rPr lang="en-US" sz="1500" b="1" dirty="0">
                <a:solidFill>
                  <a:srgbClr val="14142B"/>
                </a:solidFill>
                <a:latin typeface="Calibri"/>
                <a:cs typeface="Calibri"/>
              </a:rPr>
              <a:t>JSON plan</a:t>
            </a:r>
          </a:p>
          <a:p>
            <a:pPr algn="ctr" marL="0" indent="0">
              <a:spcAft>
                <a:spcPts val="0"/>
              </a:spcAft>
              <a:buNone/>
            </a:pPr>
            <a:r>
              <a:rPr lang="en-US" sz="1200" dirty="0">
                <a:solidFill>
                  <a:srgbClr val="63637E"/>
                </a:solidFill>
                <a:latin typeface="Calibri"/>
                <a:cs typeface="Calibri"/>
              </a:rPr>
              <a:t>+ latency, hit flag, cost</a:t>
            </a:r>
          </a:p>
        </p:txBody>
      </p:sp>
      <p:cxnSp>
        <p:nvCxnSpPr>
          <p:cNvPr id="51" name="Top arrow 1"/>
          <p:cNvCxnSpPr/>
          <p:nvPr/>
        </p:nvCxnSpPr>
        <p:spPr>
          <a:xfrm>
            <a:off x="3136392" y="2011680"/>
            <a:ext cx="402336" cy="0"/>
          </a:xfrm>
          <a:prstGeom prst="line">
            <a:avLst/>
          </a:prstGeom>
          <a:ln w="31750">
            <a:solidFill>
              <a:srgbClr val="6D28D9"/>
            </a:solidFill>
            <a:tailEnd type="triangle"/>
          </a:ln>
        </p:spPr>
      </p:cxnSp>
      <p:cxnSp>
        <p:nvCxnSpPr>
          <p:cNvPr id="52" name="Top arrow 2"/>
          <p:cNvCxnSpPr/>
          <p:nvPr/>
        </p:nvCxnSpPr>
        <p:spPr>
          <a:xfrm>
            <a:off x="5879592" y="2011680"/>
            <a:ext cx="402336" cy="0"/>
          </a:xfrm>
          <a:prstGeom prst="line">
            <a:avLst/>
          </a:prstGeom>
          <a:ln w="31750">
            <a:solidFill>
              <a:srgbClr val="6D28D9"/>
            </a:solidFill>
            <a:tailEnd type="triangle"/>
          </a:ln>
        </p:spPr>
      </p:cxnSp>
      <p:cxnSp>
        <p:nvCxnSpPr>
          <p:cNvPr id="53" name="Hit arrow"/>
          <p:cNvCxnSpPr/>
          <p:nvPr/>
        </p:nvCxnSpPr>
        <p:spPr>
          <a:xfrm>
            <a:off x="8622792" y="2011680"/>
            <a:ext cx="402336" cy="0"/>
          </a:xfrm>
          <a:prstGeom prst="line">
            <a:avLst/>
          </a:prstGeom>
          <a:ln w="31750">
            <a:solidFill>
              <a:srgbClr val="6D28D9"/>
            </a:solidFill>
            <a:tailEnd type="triangle"/>
          </a:ln>
        </p:spPr>
      </p:cxnSp>
      <p:sp>
        <p:nvSpPr>
          <p:cNvPr id="54" name="Hit label"/>
          <p:cNvSpPr txBox="1"/>
          <p:nvPr/>
        </p:nvSpPr>
        <p:spPr>
          <a:xfrm>
            <a:off x="8595360" y="1572768"/>
            <a:ext cx="457200" cy="274320"/>
          </a:xfrm>
          <a:prstGeom prst="rect">
            <a:avLst/>
          </a:prstGeom>
          <a:noFill/>
          <a:ln>
            <a:noFill/>
          </a:ln>
        </p:spPr>
        <p:txBody>
          <a:bodyPr wrap="square" lIns="0" tIns="0" rIns="0" bIns="0" rtlCol="0" anchor="t">
            <a:noAutofit/>
          </a:bodyPr>
          <a:lstStyle/>
          <a:p>
            <a:pPr algn="ctr" marL="0" indent="0">
              <a:spcAft>
                <a:spcPts val="0"/>
              </a:spcAft>
              <a:buNone/>
            </a:pPr>
            <a:r>
              <a:rPr lang="en-US" sz="1100" b="1" dirty="0">
                <a:solidFill>
                  <a:srgbClr val="6D28D9"/>
                </a:solidFill>
                <a:latin typeface="Calibri"/>
                <a:cs typeface="Calibri"/>
              </a:rPr>
              <a:t>HIT</a:t>
            </a:r>
          </a:p>
        </p:txBody>
      </p:sp>
      <p:cxnSp>
        <p:nvCxnSpPr>
          <p:cNvPr id="55" name="Miss arrow"/>
          <p:cNvCxnSpPr/>
          <p:nvPr/>
        </p:nvCxnSpPr>
        <p:spPr>
          <a:xfrm>
            <a:off x="7452360" y="2496312"/>
            <a:ext cx="0" cy="704088"/>
          </a:xfrm>
          <a:prstGeom prst="line">
            <a:avLst/>
          </a:prstGeom>
          <a:ln w="31750">
            <a:solidFill>
              <a:srgbClr val="6D28D9"/>
            </a:solidFill>
            <a:tailEnd type="triangle"/>
          </a:ln>
        </p:spPr>
      </p:cxnSp>
      <p:sp>
        <p:nvSpPr>
          <p:cNvPr id="56" name="Miss label"/>
          <p:cNvSpPr txBox="1"/>
          <p:nvPr/>
        </p:nvSpPr>
        <p:spPr>
          <a:xfrm>
            <a:off x="7562088" y="2606040"/>
            <a:ext cx="2377440" cy="457200"/>
          </a:xfrm>
          <a:prstGeom prst="rect">
            <a:avLst/>
          </a:prstGeom>
          <a:noFill/>
          <a:ln>
            <a:noFill/>
          </a:ln>
        </p:spPr>
        <p:txBody>
          <a:bodyPr wrap="square" lIns="0" tIns="0" rIns="0" bIns="0" rtlCol="0" anchor="ctr">
            <a:noAutofit/>
          </a:bodyPr>
          <a:lstStyle/>
          <a:p>
            <a:pPr algn="l" marL="0" indent="0">
              <a:spcAft>
                <a:spcPts val="0"/>
              </a:spcAft>
              <a:buNone/>
            </a:pPr>
            <a:r>
              <a:rPr lang="en-US" sz="1200" b="1" dirty="0">
                <a:solidFill>
                  <a:srgbClr val="6D28D9"/>
                </a:solidFill>
                <a:latin typeface="Calibri"/>
                <a:cs typeface="Calibri"/>
              </a:rPr>
              <a:t>MISS: run full pipeline</a:t>
            </a:r>
          </a:p>
        </p:txBody>
      </p:sp>
      <p:sp>
        <p:nvSpPr>
          <p:cNvPr id="57" name="Hit note"/>
          <p:cNvSpPr txBox="1"/>
          <p:nvPr/>
        </p:nvSpPr>
        <p:spPr>
          <a:xfrm>
            <a:off x="822960" y="2560320"/>
            <a:ext cx="5943600" cy="548640"/>
          </a:xfrm>
          <a:prstGeom prst="rect">
            <a:avLst/>
          </a:prstGeom>
          <a:noFill/>
          <a:ln>
            <a:noFill/>
          </a:ln>
        </p:spPr>
        <p:txBody>
          <a:bodyPr wrap="square" lIns="0" tIns="0" rIns="0" bIns="0" rtlCol="0" anchor="ctr">
            <a:noAutofit/>
          </a:bodyPr>
          <a:lstStyle/>
          <a:p>
            <a:pPr algn="l" marL="0" indent="0">
              <a:spcAft>
                <a:spcPts val="0"/>
              </a:spcAft>
              <a:buNone/>
            </a:pPr>
            <a:r>
              <a:rPr lang="en-US" sz="1300" b="1" dirty="0">
                <a:solidFill>
                  <a:srgbClr val="14142B"/>
                </a:solidFill>
                <a:latin typeface="Calibri"/>
                <a:cs typeface="Calibri"/>
              </a:rPr>
              <a:t>Cache hit </a:t>
            </a:r>
            <a:r>
              <a:rPr lang="en-US" sz="1300" dirty="0">
                <a:solidFill>
                  <a:srgbClr val="63637E"/>
                </a:solidFill>
                <a:latin typeface="Calibri"/>
                <a:cs typeface="Calibri"/>
              </a:rPr>
              <a:t>returns a validated plan with no LLM call (target P95 ≤ 300 ms).</a:t>
            </a:r>
          </a:p>
        </p:txBody>
      </p:sp>
      <p:sp>
        <p:nvSpPr>
          <p:cNvPr id="58" name="Cold path container"/>
          <p:cNvSpPr/>
          <p:nvPr/>
        </p:nvSpPr>
        <p:spPr>
          <a:xfrm>
            <a:off x="685800" y="3246120"/>
            <a:ext cx="10789920" cy="1965960"/>
          </a:xfrm>
          <a:prstGeom prst="roundRect">
            <a:avLst>
              <a:gd name="adj" fmla="val 4000"/>
            </a:avLst>
          </a:prstGeom>
          <a:solidFill>
            <a:srgbClr val="F3EEFC"/>
          </a:solidFill>
          <a:ln w="15875">
            <a:solidFill>
              <a:srgbClr val="6D28D9"/>
            </a:solidFill>
            <a:prstDash val="dash"/>
          </a:ln>
        </p:spPr>
        <p:txBody>
          <a:bodyPr rtlCol="0" anchor="ctr"/>
          <a:lstStyle/>
          <a:p>
            <a:endParaRPr lang="en-US"/>
          </a:p>
        </p:txBody>
      </p:sp>
      <p:sp>
        <p:nvSpPr>
          <p:cNvPr id="59" name="Cold path label"/>
          <p:cNvSpPr txBox="1"/>
          <p:nvPr/>
        </p:nvSpPr>
        <p:spPr>
          <a:xfrm>
            <a:off x="1051560" y="3310128"/>
            <a:ext cx="10058400" cy="292608"/>
          </a:xfrm>
          <a:prstGeom prst="rect">
            <a:avLst/>
          </a:prstGeom>
          <a:noFill/>
          <a:ln>
            <a:noFill/>
          </a:ln>
        </p:spPr>
        <p:txBody>
          <a:bodyPr wrap="square" lIns="0" tIns="0" rIns="0" bIns="0" rtlCol="0" anchor="t">
            <a:noAutofit/>
          </a:bodyPr>
          <a:lstStyle/>
          <a:p>
            <a:pPr algn="l" marL="0" indent="0">
              <a:spcAft>
                <a:spcPts val="0"/>
              </a:spcAft>
              <a:buNone/>
            </a:pPr>
            <a:r>
              <a:rPr lang="en-US" sz="1200" b="1" dirty="0">
                <a:solidFill>
                  <a:srgbClr val="6D28D9"/>
                </a:solidFill>
                <a:latin typeface="Calibri"/>
                <a:cs typeface="Calibri"/>
              </a:rPr>
              <a:t>COLD PATH · only on a cache miss · target P95 ≤ 8 s · result is written back to the cache</a:t>
            </a:r>
          </a:p>
        </p:txBody>
      </p:sp>
      <p:sp>
        <p:nvSpPr>
          <p:cNvPr id="60" name="Cold box 1"/>
          <p:cNvSpPr/>
          <p:nvPr/>
        </p:nvSpPr>
        <p:spPr>
          <a:xfrm>
            <a:off x="822960" y="3703320"/>
            <a:ext cx="2286000" cy="1371600"/>
          </a:xfrm>
          <a:prstGeom prst="roundRect">
            <a:avLst>
              <a:gd name="adj" fmla="val 8000"/>
            </a:avLst>
          </a:prstGeom>
          <a:solidFill>
            <a:srgbClr val="FFFFFF"/>
          </a:solidFill>
          <a:ln w="12700">
            <a:solidFill>
              <a:srgbClr val="D9D3F0"/>
            </a:solidFill>
          </a:ln>
        </p:spPr>
        <p:txBody>
          <a:bodyPr wrap="square" lIns="137160" tIns="384048" rIns="91440" bIns="45720" rtlCol="0" anchor="t">
            <a:noAutofit/>
          </a:bodyPr>
          <a:lstStyle/>
          <a:p>
            <a:pPr algn="l" marL="0" indent="0">
              <a:spcAft>
                <a:spcPts val="200"/>
              </a:spcAft>
              <a:buNone/>
            </a:pPr>
            <a:r>
              <a:rPr lang="en-US" sz="1500" b="1" dirty="0">
                <a:solidFill>
                  <a:srgbClr val="14142B"/>
                </a:solidFill>
                <a:latin typeface="Calibri"/>
                <a:cs typeface="Calibri"/>
              </a:rPr>
              <a:t>Query enrichment</a:t>
            </a:r>
          </a:p>
          <a:p>
            <a:pPr algn="l" marL="0" indent="0">
              <a:spcAft>
                <a:spcPts val="0"/>
              </a:spcAft>
              <a:buNone/>
            </a:pPr>
            <a:r>
              <a:rPr lang="en-US" sz="1200" dirty="0">
                <a:solidFill>
                  <a:srgbClr val="63637E"/>
                </a:solidFill>
                <a:latin typeface="Calibri"/>
                <a:cs typeface="Calibri"/>
              </a:rPr>
              <a:t>Canonical query + 8–10 paraphrases</a:t>
            </a:r>
          </a:p>
        </p:txBody>
      </p:sp>
      <p:sp>
        <p:nvSpPr>
          <p:cNvPr id="61" name="Step badge 1"/>
          <p:cNvSpPr/>
          <p:nvPr/>
        </p:nvSpPr>
        <p:spPr>
          <a:xfrm>
            <a:off x="932688" y="3785616"/>
            <a:ext cx="274320" cy="274320"/>
          </a:xfrm>
          <a:prstGeom prst="ellipse">
            <a:avLst/>
          </a:prstGeom>
          <a:solidFill>
            <a:srgbClr val="6D28D9"/>
          </a:solidFill>
          <a:ln>
            <a:noFill/>
          </a:ln>
        </p:spPr>
        <p:txBody>
          <a:bodyPr wrap="square" lIns="0" tIns="0" rIns="0" bIns="0" rtlCol="0" anchor="ctr">
            <a:noAutofit/>
          </a:bodyPr>
          <a:lstStyle/>
          <a:p>
            <a:pPr algn="ctr" marL="0" indent="0">
              <a:spcAft>
                <a:spcPts val="0"/>
              </a:spcAft>
              <a:buNone/>
            </a:pPr>
            <a:r>
              <a:rPr lang="en-US" sz="1200" b="1" dirty="0">
                <a:solidFill>
                  <a:srgbClr val="FFFFFF"/>
                </a:solidFill>
                <a:latin typeface="Calibri"/>
                <a:cs typeface="Calibri"/>
              </a:rPr>
              <a:t>0</a:t>
            </a:r>
          </a:p>
        </p:txBody>
      </p:sp>
      <p:cxnSp>
        <p:nvCxnSpPr>
          <p:cNvPr id="62" name="Cold arrow 1"/>
          <p:cNvCxnSpPr/>
          <p:nvPr/>
        </p:nvCxnSpPr>
        <p:spPr>
          <a:xfrm>
            <a:off x="3136392" y="4389120"/>
            <a:ext cx="402336" cy="0"/>
          </a:xfrm>
          <a:prstGeom prst="line">
            <a:avLst/>
          </a:prstGeom>
          <a:ln w="31750">
            <a:solidFill>
              <a:srgbClr val="6D28D9"/>
            </a:solidFill>
            <a:tailEnd type="triangle"/>
          </a:ln>
        </p:spPr>
      </p:cxnSp>
      <p:sp>
        <p:nvSpPr>
          <p:cNvPr id="63" name="Cold box 2"/>
          <p:cNvSpPr/>
          <p:nvPr/>
        </p:nvSpPr>
        <p:spPr>
          <a:xfrm>
            <a:off x="3566160" y="3703320"/>
            <a:ext cx="2286000" cy="1371600"/>
          </a:xfrm>
          <a:prstGeom prst="roundRect">
            <a:avLst>
              <a:gd name="adj" fmla="val 8000"/>
            </a:avLst>
          </a:prstGeom>
          <a:solidFill>
            <a:srgbClr val="FFFFFF"/>
          </a:solidFill>
          <a:ln w="12700">
            <a:solidFill>
              <a:srgbClr val="D9D3F0"/>
            </a:solidFill>
          </a:ln>
        </p:spPr>
        <p:txBody>
          <a:bodyPr wrap="square" lIns="137160" tIns="384048" rIns="91440" bIns="45720" rtlCol="0" anchor="t">
            <a:noAutofit/>
          </a:bodyPr>
          <a:lstStyle/>
          <a:p>
            <a:pPr algn="l" marL="0" indent="0">
              <a:spcAft>
                <a:spcPts val="200"/>
              </a:spcAft>
              <a:buNone/>
            </a:pPr>
            <a:r>
              <a:rPr lang="en-US" sz="1500" b="1" dirty="0">
                <a:solidFill>
                  <a:srgbClr val="14142B"/>
                </a:solidFill>
                <a:latin typeface="Calibri"/>
                <a:cs typeface="Calibri"/>
              </a:rPr>
              <a:t>Structure extraction</a:t>
            </a:r>
          </a:p>
          <a:p>
            <a:pPr algn="l" marL="0" indent="0">
              <a:spcAft>
                <a:spcPts val="0"/>
              </a:spcAft>
              <a:buNone/>
            </a:pPr>
            <a:r>
              <a:rPr lang="en-US" sz="1200" dirty="0">
                <a:solidFill>
                  <a:srgbClr val="63637E"/>
                </a:solidFill>
                <a:latin typeface="Calibri"/>
                <a:cs typeface="Calibri"/>
              </a:rPr>
              <a:t>LLM turns SIIS text into goal, actions, UI steps</a:t>
            </a:r>
          </a:p>
        </p:txBody>
      </p:sp>
      <p:sp>
        <p:nvSpPr>
          <p:cNvPr id="64" name="Step badge 2"/>
          <p:cNvSpPr/>
          <p:nvPr/>
        </p:nvSpPr>
        <p:spPr>
          <a:xfrm>
            <a:off x="3675888" y="3785616"/>
            <a:ext cx="274320" cy="274320"/>
          </a:xfrm>
          <a:prstGeom prst="ellipse">
            <a:avLst/>
          </a:prstGeom>
          <a:solidFill>
            <a:srgbClr val="6D28D9"/>
          </a:solidFill>
          <a:ln>
            <a:noFill/>
          </a:ln>
        </p:spPr>
        <p:txBody>
          <a:bodyPr wrap="square" lIns="0" tIns="0" rIns="0" bIns="0" rtlCol="0" anchor="ctr">
            <a:noAutofit/>
          </a:bodyPr>
          <a:lstStyle/>
          <a:p>
            <a:pPr algn="ctr" marL="0" indent="0">
              <a:spcAft>
                <a:spcPts val="0"/>
              </a:spcAft>
              <a:buNone/>
            </a:pPr>
            <a:r>
              <a:rPr lang="en-US" sz="1200" b="1" dirty="0">
                <a:solidFill>
                  <a:srgbClr val="FFFFFF"/>
                </a:solidFill>
                <a:latin typeface="Calibri"/>
                <a:cs typeface="Calibri"/>
              </a:rPr>
              <a:t>1</a:t>
            </a:r>
          </a:p>
        </p:txBody>
      </p:sp>
      <p:cxnSp>
        <p:nvCxnSpPr>
          <p:cNvPr id="65" name="Cold arrow 2"/>
          <p:cNvCxnSpPr/>
          <p:nvPr/>
        </p:nvCxnSpPr>
        <p:spPr>
          <a:xfrm>
            <a:off x="5879592" y="4389120"/>
            <a:ext cx="402336" cy="0"/>
          </a:xfrm>
          <a:prstGeom prst="line">
            <a:avLst/>
          </a:prstGeom>
          <a:ln w="31750">
            <a:solidFill>
              <a:srgbClr val="6D28D9"/>
            </a:solidFill>
            <a:tailEnd type="triangle"/>
          </a:ln>
        </p:spPr>
      </p:cxnSp>
      <p:sp>
        <p:nvSpPr>
          <p:cNvPr id="66" name="Cold box 3"/>
          <p:cNvSpPr/>
          <p:nvPr/>
        </p:nvSpPr>
        <p:spPr>
          <a:xfrm>
            <a:off x="6309360" y="3703320"/>
            <a:ext cx="2286000" cy="1371600"/>
          </a:xfrm>
          <a:prstGeom prst="roundRect">
            <a:avLst>
              <a:gd name="adj" fmla="val 8000"/>
            </a:avLst>
          </a:prstGeom>
          <a:solidFill>
            <a:srgbClr val="FFFFFF"/>
          </a:solidFill>
          <a:ln w="12700">
            <a:solidFill>
              <a:srgbClr val="D9D3F0"/>
            </a:solidFill>
          </a:ln>
        </p:spPr>
        <p:txBody>
          <a:bodyPr wrap="square" lIns="137160" tIns="384048" rIns="91440" bIns="45720" rtlCol="0" anchor="t">
            <a:noAutofit/>
          </a:bodyPr>
          <a:lstStyle/>
          <a:p>
            <a:pPr algn="l" marL="0" indent="0">
              <a:spcAft>
                <a:spcPts val="200"/>
              </a:spcAft>
              <a:buNone/>
            </a:pPr>
            <a:r>
              <a:rPr lang="en-US" sz="1500" b="1" dirty="0">
                <a:solidFill>
                  <a:srgbClr val="14142B"/>
                </a:solidFill>
                <a:latin typeface="Calibri"/>
                <a:cs typeface="Calibri"/>
              </a:rPr>
              <a:t>Deeplink mapping</a:t>
            </a:r>
          </a:p>
          <a:p>
            <a:pPr algn="l" marL="0" indent="0">
              <a:spcAft>
                <a:spcPts val="0"/>
              </a:spcAft>
              <a:buNone/>
            </a:pPr>
            <a:r>
              <a:rPr lang="en-US" sz="1200" dirty="0">
                <a:solidFill>
                  <a:srgbClr val="63637E"/>
                </a:solidFill>
                <a:latin typeface="Calibri"/>
                <a:cs typeface="Calibri"/>
              </a:rPr>
              <a:t>BM25 + dense search, then safe-to-critical ordering</a:t>
            </a:r>
          </a:p>
        </p:txBody>
      </p:sp>
      <p:sp>
        <p:nvSpPr>
          <p:cNvPr id="67" name="Step badge 3"/>
          <p:cNvSpPr/>
          <p:nvPr/>
        </p:nvSpPr>
        <p:spPr>
          <a:xfrm>
            <a:off x="6419088" y="3785616"/>
            <a:ext cx="274320" cy="274320"/>
          </a:xfrm>
          <a:prstGeom prst="ellipse">
            <a:avLst/>
          </a:prstGeom>
          <a:solidFill>
            <a:srgbClr val="6D28D9"/>
          </a:solidFill>
          <a:ln>
            <a:noFill/>
          </a:ln>
        </p:spPr>
        <p:txBody>
          <a:bodyPr wrap="square" lIns="0" tIns="0" rIns="0" bIns="0" rtlCol="0" anchor="ctr">
            <a:noAutofit/>
          </a:bodyPr>
          <a:lstStyle/>
          <a:p>
            <a:pPr algn="ctr" marL="0" indent="0">
              <a:spcAft>
                <a:spcPts val="0"/>
              </a:spcAft>
              <a:buNone/>
            </a:pPr>
            <a:r>
              <a:rPr lang="en-US" sz="1200" b="1" dirty="0">
                <a:solidFill>
                  <a:srgbClr val="FFFFFF"/>
                </a:solidFill>
                <a:latin typeface="Calibri"/>
                <a:cs typeface="Calibri"/>
              </a:rPr>
              <a:t>2</a:t>
            </a:r>
          </a:p>
        </p:txBody>
      </p:sp>
      <p:cxnSp>
        <p:nvCxnSpPr>
          <p:cNvPr id="68" name="Cold arrow 3"/>
          <p:cNvCxnSpPr/>
          <p:nvPr/>
        </p:nvCxnSpPr>
        <p:spPr>
          <a:xfrm>
            <a:off x="8622792" y="4389120"/>
            <a:ext cx="402336" cy="0"/>
          </a:xfrm>
          <a:prstGeom prst="line">
            <a:avLst/>
          </a:prstGeom>
          <a:ln w="31750">
            <a:solidFill>
              <a:srgbClr val="6D28D9"/>
            </a:solidFill>
            <a:tailEnd type="triangle"/>
          </a:ln>
        </p:spPr>
      </p:cxnSp>
      <p:sp>
        <p:nvSpPr>
          <p:cNvPr id="69" name="Cold box 4"/>
          <p:cNvSpPr/>
          <p:nvPr/>
        </p:nvSpPr>
        <p:spPr>
          <a:xfrm>
            <a:off x="9052560" y="3703320"/>
            <a:ext cx="2286000" cy="1371600"/>
          </a:xfrm>
          <a:prstGeom prst="roundRect">
            <a:avLst>
              <a:gd name="adj" fmla="val 8000"/>
            </a:avLst>
          </a:prstGeom>
          <a:solidFill>
            <a:srgbClr val="FFFFFF"/>
          </a:solidFill>
          <a:ln w="12700">
            <a:solidFill>
              <a:srgbClr val="D9D3F0"/>
            </a:solidFill>
          </a:ln>
        </p:spPr>
        <p:txBody>
          <a:bodyPr wrap="square" lIns="137160" tIns="384048" rIns="91440" bIns="45720" rtlCol="0" anchor="t">
            <a:noAutofit/>
          </a:bodyPr>
          <a:lstStyle/>
          <a:p>
            <a:pPr algn="l" marL="0" indent="0">
              <a:spcAft>
                <a:spcPts val="200"/>
              </a:spcAft>
              <a:buNone/>
            </a:pPr>
            <a:r>
              <a:rPr lang="en-US" sz="1500" b="1" dirty="0">
                <a:solidFill>
                  <a:srgbClr val="14142B"/>
                </a:solidFill>
                <a:latin typeface="Calibri"/>
                <a:cs typeface="Calibri"/>
              </a:rPr>
              <a:t>Validate and repair</a:t>
            </a:r>
          </a:p>
          <a:p>
            <a:pPr algn="l" marL="0" indent="0">
              <a:spcAft>
                <a:spcPts val="0"/>
              </a:spcAft>
              <a:buNone/>
            </a:pPr>
            <a:r>
              <a:rPr lang="en-US" sz="1200" dirty="0">
                <a:solidFill>
                  <a:srgbClr val="63637E"/>
                </a:solidFill>
                <a:latin typeface="Calibri"/>
                <a:cs typeface="Calibri"/>
              </a:rPr>
              <a:t>Schema, word counts, URL scrub, catalog check</a:t>
            </a:r>
          </a:p>
        </p:txBody>
      </p:sp>
      <p:sp>
        <p:nvSpPr>
          <p:cNvPr id="70" name="Step badge 4"/>
          <p:cNvSpPr/>
          <p:nvPr/>
        </p:nvSpPr>
        <p:spPr>
          <a:xfrm>
            <a:off x="9162288" y="3785616"/>
            <a:ext cx="274320" cy="274320"/>
          </a:xfrm>
          <a:prstGeom prst="ellipse">
            <a:avLst/>
          </a:prstGeom>
          <a:solidFill>
            <a:srgbClr val="6D28D9"/>
          </a:solidFill>
          <a:ln>
            <a:noFill/>
          </a:ln>
        </p:spPr>
        <p:txBody>
          <a:bodyPr wrap="square" lIns="0" tIns="0" rIns="0" bIns="0" rtlCol="0" anchor="ctr">
            <a:noAutofit/>
          </a:bodyPr>
          <a:lstStyle/>
          <a:p>
            <a:pPr algn="ctr" marL="0" indent="0">
              <a:spcAft>
                <a:spcPts val="0"/>
              </a:spcAft>
              <a:buNone/>
            </a:pPr>
            <a:r>
              <a:rPr lang="en-US" sz="1200" b="1" dirty="0">
                <a:solidFill>
                  <a:srgbClr val="FFFFFF"/>
                </a:solidFill>
                <a:latin typeface="Calibri"/>
                <a:cs typeface="Calibri"/>
              </a:rPr>
              <a:t>3</a:t>
            </a:r>
          </a:p>
        </p:txBody>
      </p:sp>
      <p:sp>
        <p:nvSpPr>
          <p:cNvPr id="71" name="Guardrail label"/>
          <p:cNvSpPr txBox="1"/>
          <p:nvPr/>
        </p:nvSpPr>
        <p:spPr>
          <a:xfrm>
            <a:off x="822960" y="5349240"/>
            <a:ext cx="10515600" cy="274320"/>
          </a:xfrm>
          <a:prstGeom prst="rect">
            <a:avLst/>
          </a:prstGeom>
          <a:noFill/>
          <a:ln>
            <a:noFill/>
          </a:ln>
        </p:spPr>
        <p:txBody>
          <a:bodyPr wrap="square" lIns="0" tIns="0" rIns="0" bIns="0" rtlCol="0" anchor="t">
            <a:noAutofit/>
          </a:bodyPr>
          <a:lstStyle/>
          <a:p>
            <a:pPr algn="l" marL="0" indent="0">
              <a:spcAft>
                <a:spcPts val="0"/>
              </a:spcAft>
              <a:buNone/>
            </a:pPr>
            <a:r>
              <a:rPr lang="en-US" sz="1200" b="1" dirty="0">
                <a:solidFill>
                  <a:srgbClr val="6D28D9"/>
                </a:solidFill>
                <a:latin typeface="Calibri"/>
                <a:cs typeface="Calibri"/>
              </a:rPr>
              <a:t>GUARDRAILS ENFORCED IN CODE, NOT IN PROMPTS</a:t>
            </a:r>
          </a:p>
        </p:txBody>
      </p:sp>
      <p:sp>
        <p:nvSpPr>
          <p:cNvPr id="72" name="Guardrail 1"/>
          <p:cNvSpPr/>
          <p:nvPr/>
        </p:nvSpPr>
        <p:spPr>
          <a:xfrm>
            <a:off x="822960" y="5669280"/>
            <a:ext cx="2514600" cy="548640"/>
          </a:xfrm>
          <a:prstGeom prst="roundRect">
            <a:avLst>
              <a:gd name="adj" fmla="val 50000"/>
            </a:avLst>
          </a:prstGeom>
          <a:solidFill>
            <a:srgbClr val="FFFFFF"/>
          </a:solidFill>
          <a:ln w="12700">
            <a:solidFill>
              <a:srgbClr val="6D28D9"/>
            </a:solidFill>
          </a:ln>
        </p:spPr>
        <p:txBody>
          <a:bodyPr wrap="square" lIns="45720" tIns="18288" rIns="45720" bIns="18288" rtlCol="0" anchor="ctr">
            <a:noAutofit/>
          </a:bodyPr>
          <a:lstStyle/>
          <a:p>
            <a:pPr algn="ctr" marL="0" indent="0">
              <a:spcAft>
                <a:spcPts val="0"/>
              </a:spcAft>
              <a:buNone/>
            </a:pPr>
            <a:r>
              <a:rPr lang="en-US" sz="1300" b="1" dirty="0">
                <a:solidFill>
                  <a:srgbClr val="6D28D9"/>
                </a:solidFill>
                <a:latin typeface="Calibri"/>
                <a:cs typeface="Calibri"/>
              </a:rPr>
              <a:t>Zero URL leaks</a:t>
            </a:r>
          </a:p>
        </p:txBody>
      </p:sp>
      <p:sp>
        <p:nvSpPr>
          <p:cNvPr id="73" name="Guardrail 2"/>
          <p:cNvSpPr/>
          <p:nvPr/>
        </p:nvSpPr>
        <p:spPr>
          <a:xfrm>
            <a:off x="3489960" y="5669280"/>
            <a:ext cx="2514600" cy="548640"/>
          </a:xfrm>
          <a:prstGeom prst="roundRect">
            <a:avLst>
              <a:gd name="adj" fmla="val 50000"/>
            </a:avLst>
          </a:prstGeom>
          <a:solidFill>
            <a:srgbClr val="FFFFFF"/>
          </a:solidFill>
          <a:ln w="12700">
            <a:solidFill>
              <a:srgbClr val="6D28D9"/>
            </a:solidFill>
          </a:ln>
        </p:spPr>
        <p:txBody>
          <a:bodyPr wrap="square" lIns="45720" tIns="18288" rIns="45720" bIns="18288" rtlCol="0" anchor="ctr">
            <a:noAutofit/>
          </a:bodyPr>
          <a:lstStyle/>
          <a:p>
            <a:pPr algn="ctr" marL="0" indent="0">
              <a:spcAft>
                <a:spcPts val="0"/>
              </a:spcAft>
              <a:buNone/>
            </a:pPr>
            <a:r>
              <a:rPr lang="en-US" sz="1300" b="1" dirty="0">
                <a:solidFill>
                  <a:srgbClr val="6D28D9"/>
                </a:solidFill>
                <a:latin typeface="Calibri"/>
                <a:cs typeface="Calibri"/>
              </a:rPr>
              <a:t>Catalog-exact URIs only</a:t>
            </a:r>
          </a:p>
        </p:txBody>
      </p:sp>
      <p:sp>
        <p:nvSpPr>
          <p:cNvPr id="74" name="Guardrail 3"/>
          <p:cNvSpPr/>
          <p:nvPr/>
        </p:nvSpPr>
        <p:spPr>
          <a:xfrm>
            <a:off x="6156960" y="5669280"/>
            <a:ext cx="2514600" cy="548640"/>
          </a:xfrm>
          <a:prstGeom prst="roundRect">
            <a:avLst>
              <a:gd name="adj" fmla="val 50000"/>
            </a:avLst>
          </a:prstGeom>
          <a:solidFill>
            <a:srgbClr val="FFFFFF"/>
          </a:solidFill>
          <a:ln w="12700">
            <a:solidFill>
              <a:srgbClr val="6D28D9"/>
            </a:solidFill>
          </a:ln>
        </p:spPr>
        <p:txBody>
          <a:bodyPr wrap="square" lIns="45720" tIns="18288" rIns="45720" bIns="18288" rtlCol="0" anchor="ctr">
            <a:noAutofit/>
          </a:bodyPr>
          <a:lstStyle/>
          <a:p>
            <a:pPr algn="ctr" marL="0" indent="0">
              <a:spcAft>
                <a:spcPts val="0"/>
              </a:spcAft>
              <a:buNone/>
            </a:pPr>
            <a:r>
              <a:rPr lang="en-US" sz="1300" b="1" dirty="0">
                <a:solidFill>
                  <a:srgbClr val="6D28D9"/>
                </a:solidFill>
                <a:latin typeface="Calibri"/>
                <a:cs typeface="Calibri"/>
              </a:rPr>
              <a:t>Word-count repair loop</a:t>
            </a:r>
          </a:p>
        </p:txBody>
      </p:sp>
      <p:sp>
        <p:nvSpPr>
          <p:cNvPr id="75" name="Guardrail 4"/>
          <p:cNvSpPr/>
          <p:nvPr/>
        </p:nvSpPr>
        <p:spPr>
          <a:xfrm>
            <a:off x="8823960" y="5669280"/>
            <a:ext cx="2514600" cy="548640"/>
          </a:xfrm>
          <a:prstGeom prst="roundRect">
            <a:avLst>
              <a:gd name="adj" fmla="val 50000"/>
            </a:avLst>
          </a:prstGeom>
          <a:solidFill>
            <a:srgbClr val="FFFFFF"/>
          </a:solidFill>
          <a:ln w="12700">
            <a:solidFill>
              <a:srgbClr val="6D28D9"/>
            </a:solidFill>
          </a:ln>
        </p:spPr>
        <p:txBody>
          <a:bodyPr wrap="square" lIns="45720" tIns="18288" rIns="45720" bIns="18288" rtlCol="0" anchor="ctr">
            <a:noAutofit/>
          </a:bodyPr>
          <a:lstStyle/>
          <a:p>
            <a:pPr algn="ctr" marL="0" indent="0">
              <a:spcAft>
                <a:spcPts val="0"/>
              </a:spcAft>
              <a:buNone/>
            </a:pPr>
            <a:r>
              <a:rPr lang="en-US" sz="1300" b="1" dirty="0">
                <a:solidFill>
                  <a:srgbClr val="6D28D9"/>
                </a:solidFill>
                <a:latin typeface="Calibri"/>
                <a:cs typeface="Calibri"/>
              </a:rPr>
              <a:t>no_match fallback</a:t>
            </a:r>
          </a:p>
        </p:txBody>
      </p:sp>
    </p:spTree>
    <p:extLst>
      <p:ext uri="{BB962C8B-B14F-4D97-AF65-F5344CB8AC3E}">
        <p14:creationId xmlns:p14="http://schemas.microsoft.com/office/powerpoint/2010/main" val="257978907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IN" b="1" dirty="0">
                <a:solidFill>
                  <a:srgbClr val="704EA6"/>
                </a:solidFill>
                <a:latin typeface="+mn-lt"/>
              </a:rPr>
              <a:t>Demo &amp; Product Walkthrough</a:t>
            </a:r>
          </a:p>
        </p:txBody>
      </p:sp>
      <p:sp>
        <p:nvSpPr>
          <p:cNvPr id="76" name="Walkthrough badge 1"/>
          <p:cNvSpPr/>
          <p:nvPr/>
        </p:nvSpPr>
        <p:spPr>
          <a:xfrm>
            <a:off x="822960" y="1673352"/>
            <a:ext cx="502920" cy="502920"/>
          </a:xfrm>
          <a:prstGeom prst="ellipse">
            <a:avLst/>
          </a:prstGeom>
          <a:solidFill>
            <a:srgbClr val="6D28D9"/>
          </a:solidFill>
          <a:ln>
            <a:noFill/>
          </a:ln>
        </p:spPr>
        <p:txBody>
          <a:bodyPr wrap="square" lIns="0" tIns="0" rIns="0" bIns="0" rtlCol="0" anchor="ctr">
            <a:noAutofit/>
          </a:bodyPr>
          <a:lstStyle/>
          <a:p>
            <a:pPr algn="ctr" marL="0" indent="0">
              <a:spcAft>
                <a:spcPts val="0"/>
              </a:spcAft>
              <a:buNone/>
            </a:pPr>
            <a:r>
              <a:rPr lang="en-US" sz="1800" b="1" dirty="0">
                <a:solidFill>
                  <a:srgbClr val="FFFFFF"/>
                </a:solidFill>
                <a:latin typeface="Calibri"/>
                <a:cs typeface="Calibri"/>
              </a:rPr>
              <a:t>1</a:t>
            </a:r>
          </a:p>
        </p:txBody>
      </p:sp>
      <p:sp>
        <p:nvSpPr>
          <p:cNvPr id="77" name="Walkthrough title 1"/>
          <p:cNvSpPr txBox="1"/>
          <p:nvPr/>
        </p:nvSpPr>
        <p:spPr>
          <a:xfrm>
            <a:off x="1554480" y="1600200"/>
            <a:ext cx="6035040" cy="365760"/>
          </a:xfrm>
          <a:prstGeom prst="rect">
            <a:avLst/>
          </a:prstGeom>
          <a:noFill/>
          <a:ln>
            <a:noFill/>
          </a:ln>
        </p:spPr>
        <p:txBody>
          <a:bodyPr wrap="square" lIns="0" tIns="0" rIns="0" bIns="0" rtlCol="0" anchor="ctr">
            <a:noAutofit/>
          </a:bodyPr>
          <a:lstStyle/>
          <a:p>
            <a:pPr algn="l" marL="0" indent="0">
              <a:spcAft>
                <a:spcPts val="0"/>
              </a:spcAft>
              <a:buNone/>
            </a:pPr>
            <a:r>
              <a:rPr lang="en-US" sz="1700" b="1" dirty="0">
                <a:solidFill>
                  <a:srgbClr val="14142B"/>
                </a:solidFill>
                <a:latin typeface="Calibri"/>
                <a:cs typeface="Calibri"/>
              </a:rPr>
              <a:t>Customer describes the issue</a:t>
            </a:r>
          </a:p>
        </p:txBody>
      </p:sp>
      <p:sp>
        <p:nvSpPr>
          <p:cNvPr id="78" name="Walkthrough text 1"/>
          <p:cNvSpPr txBox="1"/>
          <p:nvPr/>
        </p:nvSpPr>
        <p:spPr>
          <a:xfrm>
            <a:off x="1554480" y="1984248"/>
            <a:ext cx="6035040" cy="640080"/>
          </a:xfrm>
          <a:prstGeom prst="rect">
            <a:avLst/>
          </a:prstGeom>
          <a:noFill/>
          <a:ln>
            <a:noFill/>
          </a:ln>
        </p:spPr>
        <p:txBody>
          <a:bodyPr wrap="square" lIns="0" tIns="0" rIns="0" bIns="0" rtlCol="0" anchor="t">
            <a:noAutofit/>
          </a:bodyPr>
          <a:lstStyle/>
          <a:p>
            <a:pPr algn="l" marL="0" indent="0">
              <a:spcAft>
                <a:spcPts val="0"/>
              </a:spcAft>
              <a:buNone/>
            </a:pPr>
            <a:r>
              <a:rPr lang="en-US" sz="1400" b="1" dirty="0">
                <a:solidFill>
                  <a:srgbClr val="63637E"/>
                </a:solidFill>
                <a:latin typeface="Calibri"/>
                <a:cs typeface="Calibri"/>
              </a:rPr>
              <a:t>“phone swipe gestures wrong direction after app install”</a:t>
            </a:r>
          </a:p>
        </p:txBody>
      </p:sp>
      <p:sp>
        <p:nvSpPr>
          <p:cNvPr id="79" name="Walkthrough badge 2"/>
          <p:cNvSpPr/>
          <p:nvPr/>
        </p:nvSpPr>
        <p:spPr>
          <a:xfrm>
            <a:off x="822960" y="2770632"/>
            <a:ext cx="502920" cy="502920"/>
          </a:xfrm>
          <a:prstGeom prst="ellipse">
            <a:avLst/>
          </a:prstGeom>
          <a:solidFill>
            <a:srgbClr val="6D28D9"/>
          </a:solidFill>
          <a:ln>
            <a:noFill/>
          </a:ln>
        </p:spPr>
        <p:txBody>
          <a:bodyPr wrap="square" lIns="0" tIns="0" rIns="0" bIns="0" rtlCol="0" anchor="ctr">
            <a:noAutofit/>
          </a:bodyPr>
          <a:lstStyle/>
          <a:p>
            <a:pPr algn="ctr" marL="0" indent="0">
              <a:spcAft>
                <a:spcPts val="0"/>
              </a:spcAft>
              <a:buNone/>
            </a:pPr>
            <a:r>
              <a:rPr lang="en-US" sz="1800" b="1" dirty="0">
                <a:solidFill>
                  <a:srgbClr val="FFFFFF"/>
                </a:solidFill>
                <a:latin typeface="Calibri"/>
                <a:cs typeface="Calibri"/>
              </a:rPr>
              <a:t>2</a:t>
            </a:r>
          </a:p>
        </p:txBody>
      </p:sp>
      <p:sp>
        <p:nvSpPr>
          <p:cNvPr id="80" name="Walkthrough title 2"/>
          <p:cNvSpPr txBox="1"/>
          <p:nvPr/>
        </p:nvSpPr>
        <p:spPr>
          <a:xfrm>
            <a:off x="1554480" y="2697480"/>
            <a:ext cx="6035040" cy="365760"/>
          </a:xfrm>
          <a:prstGeom prst="rect">
            <a:avLst/>
          </a:prstGeom>
          <a:noFill/>
          <a:ln>
            <a:noFill/>
          </a:ln>
        </p:spPr>
        <p:txBody>
          <a:bodyPr wrap="square" lIns="0" tIns="0" rIns="0" bIns="0" rtlCol="0" anchor="ctr">
            <a:noAutofit/>
          </a:bodyPr>
          <a:lstStyle/>
          <a:p>
            <a:pPr algn="l" marL="0" indent="0">
              <a:spcAft>
                <a:spcPts val="0"/>
              </a:spcAft>
              <a:buNone/>
            </a:pPr>
            <a:r>
              <a:rPr lang="en-US" sz="1700" b="1" dirty="0">
                <a:solidFill>
                  <a:srgbClr val="14142B"/>
                </a:solidFill>
                <a:latin typeface="Calibri"/>
                <a:cs typeface="Calibri"/>
              </a:rPr>
              <a:t>Engine normalizes and looks up</a:t>
            </a:r>
          </a:p>
        </p:txBody>
      </p:sp>
      <p:sp>
        <p:nvSpPr>
          <p:cNvPr id="81" name="Walkthrough text 2"/>
          <p:cNvSpPr txBox="1"/>
          <p:nvPr/>
        </p:nvSpPr>
        <p:spPr>
          <a:xfrm>
            <a:off x="1554480" y="3081528"/>
            <a:ext cx="6035040" cy="640080"/>
          </a:xfrm>
          <a:prstGeom prst="rect">
            <a:avLst/>
          </a:prstGeom>
          <a:noFill/>
          <a:ln>
            <a:noFill/>
          </a:ln>
        </p:spPr>
        <p:txBody>
          <a:bodyPr wrap="square" lIns="0" tIns="0" rIns="0" bIns="0" rtlCol="0" anchor="t">
            <a:noAutofit/>
          </a:bodyPr>
          <a:lstStyle/>
          <a:p>
            <a:pPr algn="l" marL="0" indent="0">
              <a:spcAft>
                <a:spcPts val="0"/>
              </a:spcAft>
              <a:buNone/>
            </a:pPr>
            <a:r>
              <a:rPr lang="en-US" sz="1400" dirty="0">
                <a:solidFill>
                  <a:srgbClr val="63637E"/>
                </a:solidFill>
                <a:latin typeface="Calibri"/>
                <a:cs typeface="Calibri"/>
              </a:rPr>
              <a:t>A cache hit returns a validated plan with no LLM call; a miss runs the full pipeline.</a:t>
            </a:r>
          </a:p>
        </p:txBody>
      </p:sp>
      <p:sp>
        <p:nvSpPr>
          <p:cNvPr id="82" name="Walkthrough badge 3"/>
          <p:cNvSpPr/>
          <p:nvPr/>
        </p:nvSpPr>
        <p:spPr>
          <a:xfrm>
            <a:off x="822960" y="3867912"/>
            <a:ext cx="502920" cy="502920"/>
          </a:xfrm>
          <a:prstGeom prst="ellipse">
            <a:avLst/>
          </a:prstGeom>
          <a:solidFill>
            <a:srgbClr val="6D28D9"/>
          </a:solidFill>
          <a:ln>
            <a:noFill/>
          </a:ln>
        </p:spPr>
        <p:txBody>
          <a:bodyPr wrap="square" lIns="0" tIns="0" rIns="0" bIns="0" rtlCol="0" anchor="ctr">
            <a:noAutofit/>
          </a:bodyPr>
          <a:lstStyle/>
          <a:p>
            <a:pPr algn="ctr" marL="0" indent="0">
              <a:spcAft>
                <a:spcPts val="0"/>
              </a:spcAft>
              <a:buNone/>
            </a:pPr>
            <a:r>
              <a:rPr lang="en-US" sz="1800" b="1" dirty="0">
                <a:solidFill>
                  <a:srgbClr val="FFFFFF"/>
                </a:solidFill>
                <a:latin typeface="Calibri"/>
                <a:cs typeface="Calibri"/>
              </a:rPr>
              <a:t>3</a:t>
            </a:r>
          </a:p>
        </p:txBody>
      </p:sp>
      <p:sp>
        <p:nvSpPr>
          <p:cNvPr id="83" name="Walkthrough title 3"/>
          <p:cNvSpPr txBox="1"/>
          <p:nvPr/>
        </p:nvSpPr>
        <p:spPr>
          <a:xfrm>
            <a:off x="1554480" y="3794760"/>
            <a:ext cx="6035040" cy="365760"/>
          </a:xfrm>
          <a:prstGeom prst="rect">
            <a:avLst/>
          </a:prstGeom>
          <a:noFill/>
          <a:ln>
            <a:noFill/>
          </a:ln>
        </p:spPr>
        <p:txBody>
          <a:bodyPr wrap="square" lIns="0" tIns="0" rIns="0" bIns="0" rtlCol="0" anchor="ctr">
            <a:noAutofit/>
          </a:bodyPr>
          <a:lstStyle/>
          <a:p>
            <a:pPr algn="l" marL="0" indent="0">
              <a:spcAft>
                <a:spcPts val="0"/>
              </a:spcAft>
              <a:buNone/>
            </a:pPr>
            <a:r>
              <a:rPr lang="en-US" sz="1700" b="1" dirty="0">
                <a:solidFill>
                  <a:srgbClr val="14142B"/>
                </a:solidFill>
                <a:latin typeface="Calibri"/>
                <a:cs typeface="Calibri"/>
              </a:rPr>
              <a:t>Ordered, deeplinked plan returns</a:t>
            </a:r>
          </a:p>
        </p:txBody>
      </p:sp>
      <p:sp>
        <p:nvSpPr>
          <p:cNvPr id="84" name="Walkthrough text 3"/>
          <p:cNvSpPr txBox="1"/>
          <p:nvPr/>
        </p:nvSpPr>
        <p:spPr>
          <a:xfrm>
            <a:off x="1554480" y="4178808"/>
            <a:ext cx="6035040" cy="640080"/>
          </a:xfrm>
          <a:prstGeom prst="rect">
            <a:avLst/>
          </a:prstGeom>
          <a:noFill/>
          <a:ln>
            <a:noFill/>
          </a:ln>
        </p:spPr>
        <p:txBody>
          <a:bodyPr wrap="square" lIns="0" tIns="0" rIns="0" bIns="0" rtlCol="0" anchor="t">
            <a:noAutofit/>
          </a:bodyPr>
          <a:lstStyle/>
          <a:p>
            <a:pPr algn="l" marL="0" indent="0">
              <a:spcAft>
                <a:spcPts val="0"/>
              </a:spcAft>
              <a:buNone/>
            </a:pPr>
            <a:r>
              <a:rPr lang="en-US" sz="1400" dirty="0">
                <a:solidFill>
                  <a:srgbClr val="63637E"/>
                </a:solidFill>
                <a:latin typeface="Calibri"/>
                <a:cs typeface="Calibri"/>
              </a:rPr>
              <a:t>One goal, one action per screen, safe steps first and resets last, as pure JSON.</a:t>
            </a:r>
          </a:p>
        </p:txBody>
      </p:sp>
      <p:sp>
        <p:nvSpPr>
          <p:cNvPr id="85" name="Walkthrough badge 4"/>
          <p:cNvSpPr/>
          <p:nvPr/>
        </p:nvSpPr>
        <p:spPr>
          <a:xfrm>
            <a:off x="822960" y="4965192"/>
            <a:ext cx="502920" cy="502920"/>
          </a:xfrm>
          <a:prstGeom prst="ellipse">
            <a:avLst/>
          </a:prstGeom>
          <a:solidFill>
            <a:srgbClr val="6D28D9"/>
          </a:solidFill>
          <a:ln>
            <a:noFill/>
          </a:ln>
        </p:spPr>
        <p:txBody>
          <a:bodyPr wrap="square" lIns="0" tIns="0" rIns="0" bIns="0" rtlCol="0" anchor="ctr">
            <a:noAutofit/>
          </a:bodyPr>
          <a:lstStyle/>
          <a:p>
            <a:pPr algn="ctr" marL="0" indent="0">
              <a:spcAft>
                <a:spcPts val="0"/>
              </a:spcAft>
              <a:buNone/>
            </a:pPr>
            <a:r>
              <a:rPr lang="en-US" sz="1800" b="1" dirty="0">
                <a:solidFill>
                  <a:srgbClr val="FFFFFF"/>
                </a:solidFill>
                <a:latin typeface="Calibri"/>
                <a:cs typeface="Calibri"/>
              </a:rPr>
              <a:t>4</a:t>
            </a:r>
          </a:p>
        </p:txBody>
      </p:sp>
      <p:sp>
        <p:nvSpPr>
          <p:cNvPr id="86" name="Walkthrough title 4"/>
          <p:cNvSpPr txBox="1"/>
          <p:nvPr/>
        </p:nvSpPr>
        <p:spPr>
          <a:xfrm>
            <a:off x="1554480" y="4892040"/>
            <a:ext cx="6035040" cy="365760"/>
          </a:xfrm>
          <a:prstGeom prst="rect">
            <a:avLst/>
          </a:prstGeom>
          <a:noFill/>
          <a:ln>
            <a:noFill/>
          </a:ln>
        </p:spPr>
        <p:txBody>
          <a:bodyPr wrap="square" lIns="0" tIns="0" rIns="0" bIns="0" rtlCol="0" anchor="ctr">
            <a:noAutofit/>
          </a:bodyPr>
          <a:lstStyle/>
          <a:p>
            <a:pPr algn="l" marL="0" indent="0">
              <a:spcAft>
                <a:spcPts val="0"/>
              </a:spcAft>
              <a:buNone/>
            </a:pPr>
            <a:r>
              <a:rPr lang="en-US" sz="1700" b="1" dirty="0">
                <a:solidFill>
                  <a:srgbClr val="14142B"/>
                </a:solidFill>
                <a:latin typeface="Calibri"/>
                <a:cs typeface="Calibri"/>
              </a:rPr>
              <a:t>One tap opens the exact screen</a:t>
            </a:r>
          </a:p>
        </p:txBody>
      </p:sp>
      <p:sp>
        <p:nvSpPr>
          <p:cNvPr id="87" name="Walkthrough text 4"/>
          <p:cNvSpPr txBox="1"/>
          <p:nvPr/>
        </p:nvSpPr>
        <p:spPr>
          <a:xfrm>
            <a:off x="1554480" y="5276088"/>
            <a:ext cx="6035040" cy="640080"/>
          </a:xfrm>
          <a:prstGeom prst="rect">
            <a:avLst/>
          </a:prstGeom>
          <a:noFill/>
          <a:ln>
            <a:noFill/>
          </a:ln>
        </p:spPr>
        <p:txBody>
          <a:bodyPr wrap="square" lIns="0" tIns="0" rIns="0" bIns="0" rtlCol="0" anchor="t">
            <a:noAutofit/>
          </a:bodyPr>
          <a:lstStyle/>
          <a:p>
            <a:pPr algn="l" marL="0" indent="0">
              <a:spcAft>
                <a:spcPts val="0"/>
              </a:spcAft>
              <a:buNone/>
            </a:pPr>
            <a:r>
              <a:rPr lang="en-US" sz="1400" dirty="0">
                <a:solidFill>
                  <a:srgbClr val="63637E"/>
                </a:solidFill>
                <a:latin typeface="Calibri"/>
                <a:cs typeface="Calibri"/>
              </a:rPr>
              <a:t>The bixby:// deeplink lands on Navigation bar settings, not a parent menu.</a:t>
            </a:r>
          </a:p>
        </p:txBody>
      </p:sp>
      <p:sp>
        <p:nvSpPr>
          <p:cNvPr id="88" name="Phone frame"/>
          <p:cNvSpPr/>
          <p:nvPr/>
        </p:nvSpPr>
        <p:spPr>
          <a:xfrm>
            <a:off x="8229600" y="1554480"/>
            <a:ext cx="3108960" cy="4663440"/>
          </a:xfrm>
          <a:prstGeom prst="roundRect">
            <a:avLst>
              <a:gd name="adj" fmla="val 9000"/>
            </a:avLst>
          </a:prstGeom>
          <a:solidFill>
            <a:srgbClr val="FFFFFF"/>
          </a:solidFill>
          <a:ln w="38100">
            <a:solidFill>
              <a:srgbClr val="14142B"/>
            </a:solidFill>
          </a:ln>
        </p:spPr>
        <p:txBody>
          <a:bodyPr rtlCol="0" anchor="ctr"/>
          <a:lstStyle/>
          <a:p>
            <a:endParaRPr lang="en-US"/>
          </a:p>
        </p:txBody>
      </p:sp>
      <p:sp>
        <p:nvSpPr>
          <p:cNvPr id="89" name="Phone title"/>
          <p:cNvSpPr txBox="1"/>
          <p:nvPr/>
        </p:nvSpPr>
        <p:spPr>
          <a:xfrm>
            <a:off x="8458200" y="1783080"/>
            <a:ext cx="2651760" cy="365760"/>
          </a:xfrm>
          <a:prstGeom prst="rect">
            <a:avLst/>
          </a:prstGeom>
          <a:noFill/>
          <a:ln>
            <a:noFill/>
          </a:ln>
        </p:spPr>
        <p:txBody>
          <a:bodyPr wrap="square" lIns="0" tIns="0" rIns="0" bIns="0" rtlCol="0" anchor="ctr">
            <a:noAutofit/>
          </a:bodyPr>
          <a:lstStyle/>
          <a:p>
            <a:pPr algn="l" marL="0" indent="0">
              <a:spcAft>
                <a:spcPts val="0"/>
              </a:spcAft>
              <a:buNone/>
            </a:pPr>
            <a:r>
              <a:rPr lang="en-US" sz="1600" b="1" dirty="0">
                <a:solidFill>
                  <a:srgbClr val="14142B"/>
                </a:solidFill>
                <a:latin typeface="Calibri"/>
                <a:cs typeface="Calibri"/>
              </a:rPr>
              <a:t>Swipe navigation settings</a:t>
            </a:r>
          </a:p>
        </p:txBody>
      </p:sp>
      <p:sp>
        <p:nvSpPr>
          <p:cNvPr id="90" name="Confidence chip"/>
          <p:cNvSpPr/>
          <p:nvPr/>
        </p:nvSpPr>
        <p:spPr>
          <a:xfrm>
            <a:off x="8458200" y="2212848"/>
            <a:ext cx="1554480" cy="274320"/>
          </a:xfrm>
          <a:prstGeom prst="roundRect">
            <a:avLst>
              <a:gd name="adj" fmla="val 50000"/>
            </a:avLst>
          </a:prstGeom>
          <a:solidFill>
            <a:srgbClr val="F3EEFC"/>
          </a:solidFill>
          <a:ln>
            <a:noFill/>
          </a:ln>
        </p:spPr>
        <p:txBody>
          <a:bodyPr wrap="square" lIns="18288" tIns="0" rIns="18288" bIns="0" rtlCol="0" anchor="ctr">
            <a:noAutofit/>
          </a:bodyPr>
          <a:lstStyle/>
          <a:p>
            <a:pPr algn="ctr" marL="0" indent="0">
              <a:spcAft>
                <a:spcPts val="0"/>
              </a:spcAft>
              <a:buNone/>
            </a:pPr>
            <a:r>
              <a:rPr lang="en-US" sz="1100" b="1" dirty="0">
                <a:solidFill>
                  <a:srgbClr val="6D28D9"/>
                </a:solidFill>
                <a:latin typeface="Calibri"/>
                <a:cs typeface="Calibri"/>
              </a:rPr>
              <a:t>confidence 0.93</a:t>
            </a:r>
          </a:p>
        </p:txBody>
      </p:sp>
      <p:sp>
        <p:nvSpPr>
          <p:cNvPr id="91" name="Action name"/>
          <p:cNvSpPr txBox="1"/>
          <p:nvPr/>
        </p:nvSpPr>
        <p:spPr>
          <a:xfrm>
            <a:off x="8458200" y="2651760"/>
            <a:ext cx="2651760" cy="320040"/>
          </a:xfrm>
          <a:prstGeom prst="rect">
            <a:avLst/>
          </a:prstGeom>
          <a:noFill/>
          <a:ln>
            <a:noFill/>
          </a:ln>
        </p:spPr>
        <p:txBody>
          <a:bodyPr wrap="square" lIns="0" tIns="0" rIns="0" bIns="0" rtlCol="0" anchor="ctr">
            <a:noAutofit/>
          </a:bodyPr>
          <a:lstStyle/>
          <a:p>
            <a:pPr algn="l" marL="0" indent="0">
              <a:spcAft>
                <a:spcPts val="0"/>
              </a:spcAft>
              <a:buNone/>
            </a:pPr>
            <a:r>
              <a:rPr lang="en-US" sz="1300" b="1" dirty="0">
                <a:solidFill>
                  <a:srgbClr val="6D28D9"/>
                </a:solidFill>
                <a:latin typeface="Calibri"/>
                <a:cs typeface="Calibri"/>
              </a:rPr>
              <a:t>Configure Navigation Bar Settings</a:t>
            </a:r>
          </a:p>
        </p:txBody>
      </p:sp>
      <p:sp>
        <p:nvSpPr>
          <p:cNvPr id="92" name="Plan steps"/>
          <p:cNvSpPr txBox="1"/>
          <p:nvPr/>
        </p:nvSpPr>
        <p:spPr>
          <a:xfrm>
            <a:off x="8458200" y="3017520"/>
            <a:ext cx="2651760" cy="1737360"/>
          </a:xfrm>
          <a:prstGeom prst="rect">
            <a:avLst/>
          </a:prstGeom>
          <a:noFill/>
          <a:ln>
            <a:noFill/>
          </a:ln>
        </p:spPr>
        <p:txBody>
          <a:bodyPr wrap="square" lIns="0" tIns="0" rIns="0" bIns="0" rtlCol="0" anchor="t">
            <a:noAutofit/>
          </a:bodyPr>
          <a:lstStyle/>
          <a:p>
            <a:pPr algn="l" marL="0" indent="0">
              <a:spcAft>
                <a:spcPts val="500"/>
              </a:spcAft>
              <a:buNone/>
            </a:pPr>
            <a:r>
              <a:rPr lang="en-US" sz="1300" dirty="0">
                <a:solidFill>
                  <a:srgbClr val="14142B"/>
                </a:solidFill>
                <a:latin typeface="Calibri"/>
                <a:cs typeface="Calibri"/>
              </a:rPr>
              <a:t>1.  Open Settings</a:t>
            </a:r>
          </a:p>
          <a:p>
            <a:pPr algn="l" marL="0" indent="0">
              <a:spcAft>
                <a:spcPts val="500"/>
              </a:spcAft>
              <a:buNone/>
            </a:pPr>
            <a:r>
              <a:rPr lang="en-US" sz="1300" dirty="0">
                <a:solidFill>
                  <a:srgbClr val="14142B"/>
                </a:solidFill>
                <a:latin typeface="Calibri"/>
                <a:cs typeface="Calibri"/>
              </a:rPr>
              <a:t>2.  Tap Display</a:t>
            </a:r>
          </a:p>
          <a:p>
            <a:pPr algn="l" marL="0" indent="0">
              <a:spcAft>
                <a:spcPts val="500"/>
              </a:spcAft>
              <a:buNone/>
            </a:pPr>
            <a:r>
              <a:rPr lang="en-US" sz="1300" dirty="0">
                <a:solidFill>
                  <a:srgbClr val="14142B"/>
                </a:solidFill>
                <a:latin typeface="Calibri"/>
                <a:cs typeface="Calibri"/>
              </a:rPr>
              <a:t>3.  Tap Navigation bar</a:t>
            </a:r>
          </a:p>
          <a:p>
            <a:pPr algn="l" marL="0" indent="0">
              <a:spcAft>
                <a:spcPts val="0"/>
              </a:spcAft>
              <a:buNone/>
            </a:pPr>
            <a:r>
              <a:rPr lang="en-US" sz="1300" dirty="0">
                <a:solidFill>
                  <a:srgbClr val="14142B"/>
                </a:solidFill>
                <a:latin typeface="Calibri"/>
                <a:cs typeface="Calibri"/>
              </a:rPr>
              <a:t>4.  Choose Swipe gestures</a:t>
            </a:r>
          </a:p>
        </p:txBody>
      </p:sp>
      <p:sp>
        <p:nvSpPr>
          <p:cNvPr id="93" name="Deeplink button"/>
          <p:cNvSpPr/>
          <p:nvPr/>
        </p:nvSpPr>
        <p:spPr>
          <a:xfrm>
            <a:off x="8458200" y="4846320"/>
            <a:ext cx="2651760" cy="566928"/>
          </a:xfrm>
          <a:prstGeom prst="roundRect">
            <a:avLst>
              <a:gd name="adj" fmla="val 50000"/>
            </a:avLst>
          </a:prstGeom>
          <a:solidFill>
            <a:srgbClr val="6D28D9"/>
          </a:solidFill>
          <a:ln>
            <a:noFill/>
          </a:ln>
        </p:spPr>
        <p:txBody>
          <a:bodyPr wrap="square" lIns="45720" tIns="18288" rIns="45720" bIns="18288" rtlCol="0" anchor="ctr">
            <a:noAutofit/>
          </a:bodyPr>
          <a:lstStyle/>
          <a:p>
            <a:pPr algn="ctr" marL="0" indent="0">
              <a:spcAft>
                <a:spcPts val="0"/>
              </a:spcAft>
              <a:buNone/>
            </a:pPr>
            <a:r>
              <a:rPr lang="en-US" sz="1300" b="1" dirty="0">
                <a:solidFill>
                  <a:srgbClr val="FFFFFF"/>
                </a:solidFill>
                <a:latin typeface="Calibri"/>
                <a:cs typeface="Calibri"/>
              </a:rPr>
              <a:t>Open Navigation bar settings</a:t>
            </a:r>
          </a:p>
        </p:txBody>
      </p:sp>
      <p:sp>
        <p:nvSpPr>
          <p:cNvPr id="94" name="Sample caption"/>
          <p:cNvSpPr txBox="1"/>
          <p:nvPr/>
        </p:nvSpPr>
        <p:spPr>
          <a:xfrm>
            <a:off x="8458200" y="5577840"/>
            <a:ext cx="2651760" cy="457200"/>
          </a:xfrm>
          <a:prstGeom prst="rect">
            <a:avLst/>
          </a:prstGeom>
          <a:noFill/>
          <a:ln>
            <a:noFill/>
          </a:ln>
        </p:spPr>
        <p:txBody>
          <a:bodyPr wrap="square" lIns="0" tIns="0" rIns="0" bIns="0" rtlCol="0" anchor="ctr">
            <a:noAutofit/>
          </a:bodyPr>
          <a:lstStyle/>
          <a:p>
            <a:pPr algn="ctr" marL="0" indent="0">
              <a:spcAft>
                <a:spcPts val="0"/>
              </a:spcAft>
              <a:buNone/>
            </a:pPr>
            <a:r>
              <a:rPr lang="en-US" sz="1100" i="1" dirty="0">
                <a:solidFill>
                  <a:srgbClr val="63637E"/>
                </a:solidFill>
                <a:latin typeface="Calibri"/>
                <a:cs typeface="Calibri"/>
              </a:rPr>
              <a:t>Illustrative sample output</a:t>
            </a:r>
          </a:p>
        </p:txBody>
      </p:sp>
    </p:spTree>
    <p:extLst>
      <p:ext uri="{BB962C8B-B14F-4D97-AF65-F5344CB8AC3E}">
        <p14:creationId xmlns:p14="http://schemas.microsoft.com/office/powerpoint/2010/main" val="117824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Tools and tech stack used</a:t>
            </a:r>
            <a:endParaRPr lang="en-IN" b="1" dirty="0">
              <a:solidFill>
                <a:srgbClr val="704EA6"/>
              </a:solidFill>
            </a:endParaRPr>
          </a:p>
        </p:txBody>
      </p:sp>
      <p:sp>
        <p:nvSpPr>
          <p:cNvPr id="95" name="Stack card 1"/>
          <p:cNvSpPr/>
          <p:nvPr/>
        </p:nvSpPr>
        <p:spPr>
          <a:xfrm>
            <a:off x="822960" y="1554480"/>
            <a:ext cx="3337560" cy="2240280"/>
          </a:xfrm>
          <a:prstGeom prst="roundRect">
            <a:avLst>
              <a:gd name="adj" fmla="val 6000"/>
            </a:avLst>
          </a:prstGeom>
          <a:solidFill>
            <a:srgbClr val="F3EEFC"/>
          </a:solidFill>
          <a:ln w="12700">
            <a:solidFill>
              <a:srgbClr val="D9D3F0"/>
            </a:solidFill>
          </a:ln>
        </p:spPr>
        <p:txBody>
          <a:bodyPr rtlCol="0" anchor="ctr"/>
          <a:lstStyle/>
          <a:p>
            <a:endParaRPr lang="en-US"/>
          </a:p>
        </p:txBody>
      </p:sp>
      <p:sp>
        <p:nvSpPr>
          <p:cNvPr id="96" name="Stack badge 1"/>
          <p:cNvSpPr/>
          <p:nvPr/>
        </p:nvSpPr>
        <p:spPr>
          <a:xfrm>
            <a:off x="1005840" y="1737360"/>
            <a:ext cx="384048" cy="384048"/>
          </a:xfrm>
          <a:prstGeom prst="ellipse">
            <a:avLst/>
          </a:prstGeom>
          <a:solidFill>
            <a:srgbClr val="6D28D9"/>
          </a:solidFill>
          <a:ln>
            <a:noFill/>
          </a:ln>
        </p:spPr>
        <p:txBody>
          <a:bodyPr wrap="square" lIns="0" tIns="0" rIns="0" bIns="0" rtlCol="0" anchor="ctr">
            <a:noAutofit/>
          </a:bodyPr>
          <a:lstStyle/>
          <a:p>
            <a:pPr algn="ctr" marL="0" indent="0">
              <a:spcAft>
                <a:spcPts val="0"/>
              </a:spcAft>
              <a:buNone/>
            </a:pPr>
            <a:r>
              <a:rPr lang="en-US" sz="1400" b="1" dirty="0">
                <a:solidFill>
                  <a:srgbClr val="FFFFFF"/>
                </a:solidFill>
                <a:latin typeface="Calibri"/>
                <a:cs typeface="Calibri"/>
              </a:rPr>
              <a:t>1</a:t>
            </a:r>
          </a:p>
        </p:txBody>
      </p:sp>
      <p:sp>
        <p:nvSpPr>
          <p:cNvPr id="97" name="Stack layer 1"/>
          <p:cNvSpPr txBox="1"/>
          <p:nvPr/>
        </p:nvSpPr>
        <p:spPr>
          <a:xfrm>
            <a:off x="1508760" y="1719072"/>
            <a:ext cx="2514600" cy="438912"/>
          </a:xfrm>
          <a:prstGeom prst="rect">
            <a:avLst/>
          </a:prstGeom>
          <a:noFill/>
          <a:ln>
            <a:noFill/>
          </a:ln>
        </p:spPr>
        <p:txBody>
          <a:bodyPr wrap="square" lIns="0" tIns="0" rIns="0" bIns="0" rtlCol="0" anchor="ctr">
            <a:noAutofit/>
          </a:bodyPr>
          <a:lstStyle/>
          <a:p>
            <a:pPr algn="l" marL="0" indent="0">
              <a:spcAft>
                <a:spcPts val="0"/>
              </a:spcAft>
              <a:buNone/>
            </a:pPr>
            <a:r>
              <a:rPr lang="en-US" sz="1600" b="1" dirty="0">
                <a:solidFill>
                  <a:srgbClr val="14142B"/>
                </a:solidFill>
                <a:latin typeface="Calibri"/>
                <a:cs typeface="Calibri"/>
              </a:rPr>
              <a:t>API and data contract</a:t>
            </a:r>
          </a:p>
        </p:txBody>
      </p:sp>
      <p:sp>
        <p:nvSpPr>
          <p:cNvPr id="98" name="Stack tools 1"/>
          <p:cNvSpPr txBox="1"/>
          <p:nvPr/>
        </p:nvSpPr>
        <p:spPr>
          <a:xfrm>
            <a:off x="1051560" y="2304288"/>
            <a:ext cx="2880360" cy="640080"/>
          </a:xfrm>
          <a:prstGeom prst="rect">
            <a:avLst/>
          </a:prstGeom>
          <a:noFill/>
          <a:ln>
            <a:noFill/>
          </a:ln>
        </p:spPr>
        <p:txBody>
          <a:bodyPr wrap="square" lIns="0" tIns="0" rIns="0" bIns="0" rtlCol="0" anchor="t">
            <a:noAutofit/>
          </a:bodyPr>
          <a:lstStyle/>
          <a:p>
            <a:pPr algn="l" marL="0" indent="0">
              <a:spcAft>
                <a:spcPts val="0"/>
              </a:spcAft>
              <a:buNone/>
            </a:pPr>
            <a:r>
              <a:rPr lang="en-US" sz="1400" b="1" dirty="0">
                <a:solidFill>
                  <a:srgbClr val="6D28D9"/>
                </a:solidFill>
                <a:latin typeface="Calibri"/>
                <a:cs typeface="Calibri"/>
              </a:rPr>
              <a:t>FastAPI · Uvicorn · Pydantic</a:t>
            </a:r>
          </a:p>
        </p:txBody>
      </p:sp>
      <p:sp>
        <p:nvSpPr>
          <p:cNvPr id="99" name="Stack why 1"/>
          <p:cNvSpPr txBox="1"/>
          <p:nvPr/>
        </p:nvSpPr>
        <p:spPr>
          <a:xfrm>
            <a:off x="1051560" y="2999232"/>
            <a:ext cx="2880360" cy="731520"/>
          </a:xfrm>
          <a:prstGeom prst="rect">
            <a:avLst/>
          </a:prstGeom>
          <a:noFill/>
          <a:ln>
            <a:noFill/>
          </a:ln>
        </p:spPr>
        <p:txBody>
          <a:bodyPr wrap="square" lIns="0" tIns="0" rIns="0" bIns="0" rtlCol="0" anchor="t">
            <a:noAutofit/>
          </a:bodyPr>
          <a:lstStyle/>
          <a:p>
            <a:pPr algn="l" marL="0" indent="0">
              <a:spcAft>
                <a:spcPts val="0"/>
              </a:spcAft>
              <a:buNone/>
            </a:pPr>
            <a:r>
              <a:rPr lang="en-US" sz="1400" dirty="0">
                <a:solidFill>
                  <a:srgbClr val="63637E"/>
                </a:solidFill>
                <a:latin typeface="Calibri"/>
                <a:cs typeface="Calibri"/>
              </a:rPr>
              <a:t>Strict JSON that always matches schema.py</a:t>
            </a:r>
          </a:p>
        </p:txBody>
      </p:sp>
      <p:sp>
        <p:nvSpPr>
          <p:cNvPr id="100" name="Stack card 2"/>
          <p:cNvSpPr/>
          <p:nvPr/>
        </p:nvSpPr>
        <p:spPr>
          <a:xfrm>
            <a:off x="4411980" y="1554480"/>
            <a:ext cx="3337560" cy="2240280"/>
          </a:xfrm>
          <a:prstGeom prst="roundRect">
            <a:avLst>
              <a:gd name="adj" fmla="val 6000"/>
            </a:avLst>
          </a:prstGeom>
          <a:solidFill>
            <a:srgbClr val="F3EEFC"/>
          </a:solidFill>
          <a:ln w="12700">
            <a:solidFill>
              <a:srgbClr val="D9D3F0"/>
            </a:solidFill>
          </a:ln>
        </p:spPr>
        <p:txBody>
          <a:bodyPr rtlCol="0" anchor="ctr"/>
          <a:lstStyle/>
          <a:p>
            <a:endParaRPr lang="en-US"/>
          </a:p>
        </p:txBody>
      </p:sp>
      <p:sp>
        <p:nvSpPr>
          <p:cNvPr id="101" name="Stack badge 2"/>
          <p:cNvSpPr/>
          <p:nvPr/>
        </p:nvSpPr>
        <p:spPr>
          <a:xfrm>
            <a:off x="4594860" y="1737360"/>
            <a:ext cx="384048" cy="384048"/>
          </a:xfrm>
          <a:prstGeom prst="ellipse">
            <a:avLst/>
          </a:prstGeom>
          <a:solidFill>
            <a:srgbClr val="6D28D9"/>
          </a:solidFill>
          <a:ln>
            <a:noFill/>
          </a:ln>
        </p:spPr>
        <p:txBody>
          <a:bodyPr wrap="square" lIns="0" tIns="0" rIns="0" bIns="0" rtlCol="0" anchor="ctr">
            <a:noAutofit/>
          </a:bodyPr>
          <a:lstStyle/>
          <a:p>
            <a:pPr algn="ctr" marL="0" indent="0">
              <a:spcAft>
                <a:spcPts val="0"/>
              </a:spcAft>
              <a:buNone/>
            </a:pPr>
            <a:r>
              <a:rPr lang="en-US" sz="1400" b="1" dirty="0">
                <a:solidFill>
                  <a:srgbClr val="FFFFFF"/>
                </a:solidFill>
                <a:latin typeface="Calibri"/>
                <a:cs typeface="Calibri"/>
              </a:rPr>
              <a:t>2</a:t>
            </a:r>
          </a:p>
        </p:txBody>
      </p:sp>
      <p:sp>
        <p:nvSpPr>
          <p:cNvPr id="102" name="Stack layer 2"/>
          <p:cNvSpPr txBox="1"/>
          <p:nvPr/>
        </p:nvSpPr>
        <p:spPr>
          <a:xfrm>
            <a:off x="5097780" y="1719072"/>
            <a:ext cx="2514600" cy="438912"/>
          </a:xfrm>
          <a:prstGeom prst="rect">
            <a:avLst/>
          </a:prstGeom>
          <a:noFill/>
          <a:ln>
            <a:noFill/>
          </a:ln>
        </p:spPr>
        <p:txBody>
          <a:bodyPr wrap="square" lIns="0" tIns="0" rIns="0" bIns="0" rtlCol="0" anchor="ctr">
            <a:noAutofit/>
          </a:bodyPr>
          <a:lstStyle/>
          <a:p>
            <a:pPr algn="l" marL="0" indent="0">
              <a:spcAft>
                <a:spcPts val="0"/>
              </a:spcAft>
              <a:buNone/>
            </a:pPr>
            <a:r>
              <a:rPr lang="en-US" sz="1600" b="1" dirty="0">
                <a:solidFill>
                  <a:srgbClr val="14142B"/>
                </a:solidFill>
                <a:latin typeface="Calibri"/>
                <a:cs typeface="Calibri"/>
              </a:rPr>
              <a:t>LLM (cold path only)</a:t>
            </a:r>
          </a:p>
        </p:txBody>
      </p:sp>
      <p:sp>
        <p:nvSpPr>
          <p:cNvPr id="103" name="Stack tools 2"/>
          <p:cNvSpPr txBox="1"/>
          <p:nvPr/>
        </p:nvSpPr>
        <p:spPr>
          <a:xfrm>
            <a:off x="4640580" y="2304288"/>
            <a:ext cx="2880360" cy="640080"/>
          </a:xfrm>
          <a:prstGeom prst="rect">
            <a:avLst/>
          </a:prstGeom>
          <a:noFill/>
          <a:ln>
            <a:noFill/>
          </a:ln>
        </p:spPr>
        <p:txBody>
          <a:bodyPr wrap="square" lIns="0" tIns="0" rIns="0" bIns="0" rtlCol="0" anchor="t">
            <a:noAutofit/>
          </a:bodyPr>
          <a:lstStyle/>
          <a:p>
            <a:pPr algn="l" marL="0" indent="0">
              <a:spcAft>
                <a:spcPts val="0"/>
              </a:spcAft>
              <a:buNone/>
            </a:pPr>
            <a:r>
              <a:rPr lang="en-US" sz="1400" b="1" dirty="0">
                <a:solidFill>
                  <a:srgbClr val="6D28D9"/>
                </a:solidFill>
                <a:latin typeface="Calibri"/>
                <a:cs typeface="Calibri"/>
              </a:rPr>
              <a:t>Small low-cost model, JSON mode, temperature 0</a:t>
            </a:r>
          </a:p>
        </p:txBody>
      </p:sp>
      <p:sp>
        <p:nvSpPr>
          <p:cNvPr id="104" name="Stack why 2"/>
          <p:cNvSpPr txBox="1"/>
          <p:nvPr/>
        </p:nvSpPr>
        <p:spPr>
          <a:xfrm>
            <a:off x="4640580" y="2999232"/>
            <a:ext cx="2880360" cy="731520"/>
          </a:xfrm>
          <a:prstGeom prst="rect">
            <a:avLst/>
          </a:prstGeom>
          <a:noFill/>
          <a:ln>
            <a:noFill/>
          </a:ln>
        </p:spPr>
        <p:txBody>
          <a:bodyPr wrap="square" lIns="0" tIns="0" rIns="0" bIns="0" rtlCol="0" anchor="t">
            <a:noAutofit/>
          </a:bodyPr>
          <a:lstStyle/>
          <a:p>
            <a:pPr algn="l" marL="0" indent="0">
              <a:spcAft>
                <a:spcPts val="0"/>
              </a:spcAft>
              <a:buNone/>
            </a:pPr>
            <a:r>
              <a:rPr lang="en-US" sz="1400" dirty="0">
                <a:solidFill>
                  <a:srgbClr val="63637E"/>
                </a:solidFill>
                <a:latin typeface="Calibri"/>
                <a:cs typeface="Calibri"/>
              </a:rPr>
              <a:t>Repeatable extraction at low cost</a:t>
            </a:r>
          </a:p>
        </p:txBody>
      </p:sp>
      <p:sp>
        <p:nvSpPr>
          <p:cNvPr id="105" name="Stack card 3"/>
          <p:cNvSpPr/>
          <p:nvPr/>
        </p:nvSpPr>
        <p:spPr>
          <a:xfrm>
            <a:off x="8001000" y="1554480"/>
            <a:ext cx="3337560" cy="2240280"/>
          </a:xfrm>
          <a:prstGeom prst="roundRect">
            <a:avLst>
              <a:gd name="adj" fmla="val 6000"/>
            </a:avLst>
          </a:prstGeom>
          <a:solidFill>
            <a:srgbClr val="F3EEFC"/>
          </a:solidFill>
          <a:ln w="12700">
            <a:solidFill>
              <a:srgbClr val="D9D3F0"/>
            </a:solidFill>
          </a:ln>
        </p:spPr>
        <p:txBody>
          <a:bodyPr rtlCol="0" anchor="ctr"/>
          <a:lstStyle/>
          <a:p>
            <a:endParaRPr lang="en-US"/>
          </a:p>
        </p:txBody>
      </p:sp>
      <p:sp>
        <p:nvSpPr>
          <p:cNvPr id="106" name="Stack badge 3"/>
          <p:cNvSpPr/>
          <p:nvPr/>
        </p:nvSpPr>
        <p:spPr>
          <a:xfrm>
            <a:off x="8183880" y="1737360"/>
            <a:ext cx="384048" cy="384048"/>
          </a:xfrm>
          <a:prstGeom prst="ellipse">
            <a:avLst/>
          </a:prstGeom>
          <a:solidFill>
            <a:srgbClr val="6D28D9"/>
          </a:solidFill>
          <a:ln>
            <a:noFill/>
          </a:ln>
        </p:spPr>
        <p:txBody>
          <a:bodyPr wrap="square" lIns="0" tIns="0" rIns="0" bIns="0" rtlCol="0" anchor="ctr">
            <a:noAutofit/>
          </a:bodyPr>
          <a:lstStyle/>
          <a:p>
            <a:pPr algn="ctr" marL="0" indent="0">
              <a:spcAft>
                <a:spcPts val="0"/>
              </a:spcAft>
              <a:buNone/>
            </a:pPr>
            <a:r>
              <a:rPr lang="en-US" sz="1400" b="1" dirty="0">
                <a:solidFill>
                  <a:srgbClr val="FFFFFF"/>
                </a:solidFill>
                <a:latin typeface="Calibri"/>
                <a:cs typeface="Calibri"/>
              </a:rPr>
              <a:t>3</a:t>
            </a:r>
          </a:p>
        </p:txBody>
      </p:sp>
      <p:sp>
        <p:nvSpPr>
          <p:cNvPr id="107" name="Stack layer 3"/>
          <p:cNvSpPr txBox="1"/>
          <p:nvPr/>
        </p:nvSpPr>
        <p:spPr>
          <a:xfrm>
            <a:off x="8686800" y="1719072"/>
            <a:ext cx="2514600" cy="438912"/>
          </a:xfrm>
          <a:prstGeom prst="rect">
            <a:avLst/>
          </a:prstGeom>
          <a:noFill/>
          <a:ln>
            <a:noFill/>
          </a:ln>
        </p:spPr>
        <p:txBody>
          <a:bodyPr wrap="square" lIns="0" tIns="0" rIns="0" bIns="0" rtlCol="0" anchor="ctr">
            <a:noAutofit/>
          </a:bodyPr>
          <a:lstStyle/>
          <a:p>
            <a:pPr algn="l" marL="0" indent="0">
              <a:spcAft>
                <a:spcPts val="0"/>
              </a:spcAft>
              <a:buNone/>
            </a:pPr>
            <a:r>
              <a:rPr lang="en-US" sz="1600" b="1" dirty="0">
                <a:solidFill>
                  <a:srgbClr val="14142B"/>
                </a:solidFill>
                <a:latin typeface="Calibri"/>
                <a:cs typeface="Calibri"/>
              </a:rPr>
              <a:t>Hybrid retrieval</a:t>
            </a:r>
          </a:p>
        </p:txBody>
      </p:sp>
      <p:sp>
        <p:nvSpPr>
          <p:cNvPr id="108" name="Stack tools 3"/>
          <p:cNvSpPr txBox="1"/>
          <p:nvPr/>
        </p:nvSpPr>
        <p:spPr>
          <a:xfrm>
            <a:off x="8229600" y="2304288"/>
            <a:ext cx="2880360" cy="640080"/>
          </a:xfrm>
          <a:prstGeom prst="rect">
            <a:avLst/>
          </a:prstGeom>
          <a:noFill/>
          <a:ln>
            <a:noFill/>
          </a:ln>
        </p:spPr>
        <p:txBody>
          <a:bodyPr wrap="square" lIns="0" tIns="0" rIns="0" bIns="0" rtlCol="0" anchor="t">
            <a:noAutofit/>
          </a:bodyPr>
          <a:lstStyle/>
          <a:p>
            <a:pPr algn="l" marL="0" indent="0">
              <a:spcAft>
                <a:spcPts val="0"/>
              </a:spcAft>
              <a:buNone/>
            </a:pPr>
            <a:r>
              <a:rPr lang="en-US" sz="1400" b="1" dirty="0">
                <a:solidFill>
                  <a:srgbClr val="6D28D9"/>
                </a:solidFill>
                <a:latin typeface="Calibri"/>
                <a:cs typeface="Calibri"/>
              </a:rPr>
              <a:t>rank_bm25 · sentence-transformers · FAISS · RRF</a:t>
            </a:r>
          </a:p>
        </p:txBody>
      </p:sp>
      <p:sp>
        <p:nvSpPr>
          <p:cNvPr id="109" name="Stack why 3"/>
          <p:cNvSpPr txBox="1"/>
          <p:nvPr/>
        </p:nvSpPr>
        <p:spPr>
          <a:xfrm>
            <a:off x="8229600" y="2999232"/>
            <a:ext cx="2880360" cy="731520"/>
          </a:xfrm>
          <a:prstGeom prst="rect">
            <a:avLst/>
          </a:prstGeom>
          <a:noFill/>
          <a:ln>
            <a:noFill/>
          </a:ln>
        </p:spPr>
        <p:txBody>
          <a:bodyPr wrap="square" lIns="0" tIns="0" rIns="0" bIns="0" rtlCol="0" anchor="t">
            <a:noAutofit/>
          </a:bodyPr>
          <a:lstStyle/>
          <a:p>
            <a:pPr algn="l" marL="0" indent="0">
              <a:spcAft>
                <a:spcPts val="0"/>
              </a:spcAft>
              <a:buNone/>
            </a:pPr>
            <a:r>
              <a:rPr lang="en-US" sz="1400" dirty="0">
                <a:solidFill>
                  <a:srgbClr val="63637E"/>
                </a:solidFill>
                <a:latin typeface="Calibri"/>
                <a:cs typeface="Calibri"/>
              </a:rPr>
              <a:t>Matches screens on descriptions, never on masked URIs</a:t>
            </a:r>
          </a:p>
        </p:txBody>
      </p:sp>
      <p:sp>
        <p:nvSpPr>
          <p:cNvPr id="110" name="Stack card 4"/>
          <p:cNvSpPr/>
          <p:nvPr/>
        </p:nvSpPr>
        <p:spPr>
          <a:xfrm>
            <a:off x="822960" y="3977640"/>
            <a:ext cx="3337560" cy="2240280"/>
          </a:xfrm>
          <a:prstGeom prst="roundRect">
            <a:avLst>
              <a:gd name="adj" fmla="val 6000"/>
            </a:avLst>
          </a:prstGeom>
          <a:solidFill>
            <a:srgbClr val="F3EEFC"/>
          </a:solidFill>
          <a:ln w="12700">
            <a:solidFill>
              <a:srgbClr val="D9D3F0"/>
            </a:solidFill>
          </a:ln>
        </p:spPr>
        <p:txBody>
          <a:bodyPr rtlCol="0" anchor="ctr"/>
          <a:lstStyle/>
          <a:p>
            <a:endParaRPr lang="en-US"/>
          </a:p>
        </p:txBody>
      </p:sp>
      <p:sp>
        <p:nvSpPr>
          <p:cNvPr id="111" name="Stack badge 4"/>
          <p:cNvSpPr/>
          <p:nvPr/>
        </p:nvSpPr>
        <p:spPr>
          <a:xfrm>
            <a:off x="1005840" y="4160520"/>
            <a:ext cx="384048" cy="384048"/>
          </a:xfrm>
          <a:prstGeom prst="ellipse">
            <a:avLst/>
          </a:prstGeom>
          <a:solidFill>
            <a:srgbClr val="6D28D9"/>
          </a:solidFill>
          <a:ln>
            <a:noFill/>
          </a:ln>
        </p:spPr>
        <p:txBody>
          <a:bodyPr wrap="square" lIns="0" tIns="0" rIns="0" bIns="0" rtlCol="0" anchor="ctr">
            <a:noAutofit/>
          </a:bodyPr>
          <a:lstStyle/>
          <a:p>
            <a:pPr algn="ctr" marL="0" indent="0">
              <a:spcAft>
                <a:spcPts val="0"/>
              </a:spcAft>
              <a:buNone/>
            </a:pPr>
            <a:r>
              <a:rPr lang="en-US" sz="1400" b="1" dirty="0">
                <a:solidFill>
                  <a:srgbClr val="FFFFFF"/>
                </a:solidFill>
                <a:latin typeface="Calibri"/>
                <a:cs typeface="Calibri"/>
              </a:rPr>
              <a:t>4</a:t>
            </a:r>
          </a:p>
        </p:txBody>
      </p:sp>
      <p:sp>
        <p:nvSpPr>
          <p:cNvPr id="112" name="Stack layer 4"/>
          <p:cNvSpPr txBox="1"/>
          <p:nvPr/>
        </p:nvSpPr>
        <p:spPr>
          <a:xfrm>
            <a:off x="1508760" y="4142232"/>
            <a:ext cx="2514600" cy="438912"/>
          </a:xfrm>
          <a:prstGeom prst="rect">
            <a:avLst/>
          </a:prstGeom>
          <a:noFill/>
          <a:ln>
            <a:noFill/>
          </a:ln>
        </p:spPr>
        <p:txBody>
          <a:bodyPr wrap="square" lIns="0" tIns="0" rIns="0" bIns="0" rtlCol="0" anchor="ctr">
            <a:noAutofit/>
          </a:bodyPr>
          <a:lstStyle/>
          <a:p>
            <a:pPr algn="l" marL="0" indent="0">
              <a:spcAft>
                <a:spcPts val="0"/>
              </a:spcAft>
              <a:buNone/>
            </a:pPr>
            <a:r>
              <a:rPr lang="en-US" sz="1600" b="1" dirty="0">
                <a:solidFill>
                  <a:srgbClr val="14142B"/>
                </a:solidFill>
                <a:latin typeface="Calibri"/>
                <a:cs typeface="Calibri"/>
              </a:rPr>
              <a:t>Semantic cache</a:t>
            </a:r>
          </a:p>
        </p:txBody>
      </p:sp>
      <p:sp>
        <p:nvSpPr>
          <p:cNvPr id="113" name="Stack tools 4"/>
          <p:cNvSpPr txBox="1"/>
          <p:nvPr/>
        </p:nvSpPr>
        <p:spPr>
          <a:xfrm>
            <a:off x="1051560" y="4727448"/>
            <a:ext cx="2880360" cy="640080"/>
          </a:xfrm>
          <a:prstGeom prst="rect">
            <a:avLst/>
          </a:prstGeom>
          <a:noFill/>
          <a:ln>
            <a:noFill/>
          </a:ln>
        </p:spPr>
        <p:txBody>
          <a:bodyPr wrap="square" lIns="0" tIns="0" rIns="0" bIns="0" rtlCol="0" anchor="t">
            <a:noAutofit/>
          </a:bodyPr>
          <a:lstStyle/>
          <a:p>
            <a:pPr algn="l" marL="0" indent="0">
              <a:spcAft>
                <a:spcPts val="0"/>
              </a:spcAft>
              <a:buNone/>
            </a:pPr>
            <a:r>
              <a:rPr lang="en-US" sz="1400" b="1" dirty="0">
                <a:solidFill>
                  <a:srgbClr val="6D28D9"/>
                </a:solidFill>
                <a:latin typeface="Calibri"/>
                <a:cs typeface="Calibri"/>
              </a:rPr>
              <a:t>FAISS in memory · SQLite on disk</a:t>
            </a:r>
          </a:p>
        </p:txBody>
      </p:sp>
      <p:sp>
        <p:nvSpPr>
          <p:cNvPr id="114" name="Stack why 4"/>
          <p:cNvSpPr txBox="1"/>
          <p:nvPr/>
        </p:nvSpPr>
        <p:spPr>
          <a:xfrm>
            <a:off x="1051560" y="5422392"/>
            <a:ext cx="2880360" cy="731520"/>
          </a:xfrm>
          <a:prstGeom prst="rect">
            <a:avLst/>
          </a:prstGeom>
          <a:noFill/>
          <a:ln>
            <a:noFill/>
          </a:ln>
        </p:spPr>
        <p:txBody>
          <a:bodyPr wrap="square" lIns="0" tIns="0" rIns="0" bIns="0" rtlCol="0" anchor="t">
            <a:noAutofit/>
          </a:bodyPr>
          <a:lstStyle/>
          <a:p>
            <a:pPr algn="l" marL="0" indent="0">
              <a:spcAft>
                <a:spcPts val="0"/>
              </a:spcAft>
              <a:buNone/>
            </a:pPr>
            <a:r>
              <a:rPr lang="en-US" sz="1400" dirty="0">
                <a:solidFill>
                  <a:srgbClr val="63637E"/>
                </a:solidFill>
                <a:latin typeface="Calibri"/>
                <a:cs typeface="Calibri"/>
              </a:rPr>
              <a:t>Pre-warmed with 8–10 paraphrases per issue</a:t>
            </a:r>
          </a:p>
        </p:txBody>
      </p:sp>
      <p:sp>
        <p:nvSpPr>
          <p:cNvPr id="115" name="Stack card 5"/>
          <p:cNvSpPr/>
          <p:nvPr/>
        </p:nvSpPr>
        <p:spPr>
          <a:xfrm>
            <a:off x="4411980" y="3977640"/>
            <a:ext cx="3337560" cy="2240280"/>
          </a:xfrm>
          <a:prstGeom prst="roundRect">
            <a:avLst>
              <a:gd name="adj" fmla="val 6000"/>
            </a:avLst>
          </a:prstGeom>
          <a:solidFill>
            <a:srgbClr val="F3EEFC"/>
          </a:solidFill>
          <a:ln w="12700">
            <a:solidFill>
              <a:srgbClr val="D9D3F0"/>
            </a:solidFill>
          </a:ln>
        </p:spPr>
        <p:txBody>
          <a:bodyPr rtlCol="0" anchor="ctr"/>
          <a:lstStyle/>
          <a:p>
            <a:endParaRPr lang="en-US"/>
          </a:p>
        </p:txBody>
      </p:sp>
      <p:sp>
        <p:nvSpPr>
          <p:cNvPr id="116" name="Stack badge 5"/>
          <p:cNvSpPr/>
          <p:nvPr/>
        </p:nvSpPr>
        <p:spPr>
          <a:xfrm>
            <a:off x="4594860" y="4160520"/>
            <a:ext cx="384048" cy="384048"/>
          </a:xfrm>
          <a:prstGeom prst="ellipse">
            <a:avLst/>
          </a:prstGeom>
          <a:solidFill>
            <a:srgbClr val="6D28D9"/>
          </a:solidFill>
          <a:ln>
            <a:noFill/>
          </a:ln>
        </p:spPr>
        <p:txBody>
          <a:bodyPr wrap="square" lIns="0" tIns="0" rIns="0" bIns="0" rtlCol="0" anchor="ctr">
            <a:noAutofit/>
          </a:bodyPr>
          <a:lstStyle/>
          <a:p>
            <a:pPr algn="ctr" marL="0" indent="0">
              <a:spcAft>
                <a:spcPts val="0"/>
              </a:spcAft>
              <a:buNone/>
            </a:pPr>
            <a:r>
              <a:rPr lang="en-US" sz="1400" b="1" dirty="0">
                <a:solidFill>
                  <a:srgbClr val="FFFFFF"/>
                </a:solidFill>
                <a:latin typeface="Calibri"/>
                <a:cs typeface="Calibri"/>
              </a:rPr>
              <a:t>5</a:t>
            </a:r>
          </a:p>
        </p:txBody>
      </p:sp>
      <p:sp>
        <p:nvSpPr>
          <p:cNvPr id="117" name="Stack layer 5"/>
          <p:cNvSpPr txBox="1"/>
          <p:nvPr/>
        </p:nvSpPr>
        <p:spPr>
          <a:xfrm>
            <a:off x="5097780" y="4142232"/>
            <a:ext cx="2514600" cy="438912"/>
          </a:xfrm>
          <a:prstGeom prst="rect">
            <a:avLst/>
          </a:prstGeom>
          <a:noFill/>
          <a:ln>
            <a:noFill/>
          </a:ln>
        </p:spPr>
        <p:txBody>
          <a:bodyPr wrap="square" lIns="0" tIns="0" rIns="0" bIns="0" rtlCol="0" anchor="ctr">
            <a:noAutofit/>
          </a:bodyPr>
          <a:lstStyle/>
          <a:p>
            <a:pPr algn="l" marL="0" indent="0">
              <a:spcAft>
                <a:spcPts val="0"/>
              </a:spcAft>
              <a:buNone/>
            </a:pPr>
            <a:r>
              <a:rPr lang="en-US" sz="1600" b="1" dirty="0">
                <a:solidFill>
                  <a:srgbClr val="14142B"/>
                </a:solidFill>
                <a:latin typeface="Calibri"/>
                <a:cs typeface="Calibri"/>
              </a:rPr>
              <a:t>Guardrails</a:t>
            </a:r>
          </a:p>
        </p:txBody>
      </p:sp>
      <p:sp>
        <p:nvSpPr>
          <p:cNvPr id="118" name="Stack tools 5"/>
          <p:cNvSpPr txBox="1"/>
          <p:nvPr/>
        </p:nvSpPr>
        <p:spPr>
          <a:xfrm>
            <a:off x="4640580" y="4727448"/>
            <a:ext cx="2880360" cy="640080"/>
          </a:xfrm>
          <a:prstGeom prst="rect">
            <a:avLst/>
          </a:prstGeom>
          <a:noFill/>
          <a:ln>
            <a:noFill/>
          </a:ln>
        </p:spPr>
        <p:txBody>
          <a:bodyPr wrap="square" lIns="0" tIns="0" rIns="0" bIns="0" rtlCol="0" anchor="t">
            <a:noAutofit/>
          </a:bodyPr>
          <a:lstStyle/>
          <a:p>
            <a:pPr algn="l" marL="0" indent="0">
              <a:spcAft>
                <a:spcPts val="0"/>
              </a:spcAft>
              <a:buNone/>
            </a:pPr>
            <a:r>
              <a:rPr lang="en-US" sz="1400" b="1" dirty="0">
                <a:solidFill>
                  <a:srgbClr val="6D28D9"/>
                </a:solidFill>
                <a:latin typeface="Calibri"/>
                <a:cs typeface="Calibri"/>
              </a:rPr>
              <a:t>Python regex and validators</a:t>
            </a:r>
          </a:p>
        </p:txBody>
      </p:sp>
      <p:sp>
        <p:nvSpPr>
          <p:cNvPr id="119" name="Stack why 5"/>
          <p:cNvSpPr txBox="1"/>
          <p:nvPr/>
        </p:nvSpPr>
        <p:spPr>
          <a:xfrm>
            <a:off x="4640580" y="5422392"/>
            <a:ext cx="2880360" cy="731520"/>
          </a:xfrm>
          <a:prstGeom prst="rect">
            <a:avLst/>
          </a:prstGeom>
          <a:noFill/>
          <a:ln>
            <a:noFill/>
          </a:ln>
        </p:spPr>
        <p:txBody>
          <a:bodyPr wrap="square" lIns="0" tIns="0" rIns="0" bIns="0" rtlCol="0" anchor="t">
            <a:noAutofit/>
          </a:bodyPr>
          <a:lstStyle/>
          <a:p>
            <a:pPr algn="l" marL="0" indent="0">
              <a:spcAft>
                <a:spcPts val="0"/>
              </a:spcAft>
              <a:buNone/>
            </a:pPr>
            <a:r>
              <a:rPr lang="en-US" sz="1400" dirty="0">
                <a:solidFill>
                  <a:srgbClr val="63637E"/>
                </a:solidFill>
                <a:latin typeface="Calibri"/>
                <a:cs typeface="Calibri"/>
              </a:rPr>
              <a:t>URL scrub, word counts, ordering, catalog check</a:t>
            </a:r>
          </a:p>
        </p:txBody>
      </p:sp>
      <p:sp>
        <p:nvSpPr>
          <p:cNvPr id="120" name="Stack card 6"/>
          <p:cNvSpPr/>
          <p:nvPr/>
        </p:nvSpPr>
        <p:spPr>
          <a:xfrm>
            <a:off x="8001000" y="3977640"/>
            <a:ext cx="3337560" cy="2240280"/>
          </a:xfrm>
          <a:prstGeom prst="roundRect">
            <a:avLst>
              <a:gd name="adj" fmla="val 6000"/>
            </a:avLst>
          </a:prstGeom>
          <a:solidFill>
            <a:srgbClr val="F3EEFC"/>
          </a:solidFill>
          <a:ln w="12700">
            <a:solidFill>
              <a:srgbClr val="D9D3F0"/>
            </a:solidFill>
          </a:ln>
        </p:spPr>
        <p:txBody>
          <a:bodyPr rtlCol="0" anchor="ctr"/>
          <a:lstStyle/>
          <a:p>
            <a:endParaRPr lang="en-US"/>
          </a:p>
        </p:txBody>
      </p:sp>
      <p:sp>
        <p:nvSpPr>
          <p:cNvPr id="121" name="Stack badge 6"/>
          <p:cNvSpPr/>
          <p:nvPr/>
        </p:nvSpPr>
        <p:spPr>
          <a:xfrm>
            <a:off x="8183880" y="4160520"/>
            <a:ext cx="384048" cy="384048"/>
          </a:xfrm>
          <a:prstGeom prst="ellipse">
            <a:avLst/>
          </a:prstGeom>
          <a:solidFill>
            <a:srgbClr val="6D28D9"/>
          </a:solidFill>
          <a:ln>
            <a:noFill/>
          </a:ln>
        </p:spPr>
        <p:txBody>
          <a:bodyPr wrap="square" lIns="0" tIns="0" rIns="0" bIns="0" rtlCol="0" anchor="ctr">
            <a:noAutofit/>
          </a:bodyPr>
          <a:lstStyle/>
          <a:p>
            <a:pPr algn="ctr" marL="0" indent="0">
              <a:spcAft>
                <a:spcPts val="0"/>
              </a:spcAft>
              <a:buNone/>
            </a:pPr>
            <a:r>
              <a:rPr lang="en-US" sz="1400" b="1" dirty="0">
                <a:solidFill>
                  <a:srgbClr val="FFFFFF"/>
                </a:solidFill>
                <a:latin typeface="Calibri"/>
                <a:cs typeface="Calibri"/>
              </a:rPr>
              <a:t>6</a:t>
            </a:r>
          </a:p>
        </p:txBody>
      </p:sp>
      <p:sp>
        <p:nvSpPr>
          <p:cNvPr id="122" name="Stack layer 6"/>
          <p:cNvSpPr txBox="1"/>
          <p:nvPr/>
        </p:nvSpPr>
        <p:spPr>
          <a:xfrm>
            <a:off x="8686800" y="4142232"/>
            <a:ext cx="2514600" cy="438912"/>
          </a:xfrm>
          <a:prstGeom prst="rect">
            <a:avLst/>
          </a:prstGeom>
          <a:noFill/>
          <a:ln>
            <a:noFill/>
          </a:ln>
        </p:spPr>
        <p:txBody>
          <a:bodyPr wrap="square" lIns="0" tIns="0" rIns="0" bIns="0" rtlCol="0" anchor="ctr">
            <a:noAutofit/>
          </a:bodyPr>
          <a:lstStyle/>
          <a:p>
            <a:pPr algn="l" marL="0" indent="0">
              <a:spcAft>
                <a:spcPts val="0"/>
              </a:spcAft>
              <a:buNone/>
            </a:pPr>
            <a:r>
              <a:rPr lang="en-US" sz="1600" b="1" dirty="0">
                <a:solidFill>
                  <a:srgbClr val="14142B"/>
                </a:solidFill>
                <a:latin typeface="Calibri"/>
                <a:cs typeface="Calibri"/>
              </a:rPr>
              <a:t>Packaging and demo</a:t>
            </a:r>
          </a:p>
        </p:txBody>
      </p:sp>
      <p:sp>
        <p:nvSpPr>
          <p:cNvPr id="123" name="Stack tools 6"/>
          <p:cNvSpPr txBox="1"/>
          <p:nvPr/>
        </p:nvSpPr>
        <p:spPr>
          <a:xfrm>
            <a:off x="8229600" y="4727448"/>
            <a:ext cx="2880360" cy="640080"/>
          </a:xfrm>
          <a:prstGeom prst="rect">
            <a:avLst/>
          </a:prstGeom>
          <a:noFill/>
          <a:ln>
            <a:noFill/>
          </a:ln>
        </p:spPr>
        <p:txBody>
          <a:bodyPr wrap="square" lIns="0" tIns="0" rIns="0" bIns="0" rtlCol="0" anchor="t">
            <a:noAutofit/>
          </a:bodyPr>
          <a:lstStyle/>
          <a:p>
            <a:pPr algn="l" marL="0" indent="0">
              <a:spcAft>
                <a:spcPts val="0"/>
              </a:spcAft>
              <a:buNone/>
            </a:pPr>
            <a:r>
              <a:rPr lang="en-US" sz="1400" b="1" dirty="0">
                <a:solidFill>
                  <a:srgbClr val="6D28D9"/>
                </a:solidFill>
                <a:latin typeface="Calibri"/>
                <a:cs typeface="Calibri"/>
              </a:rPr>
              <a:t>Docker · Streamlit phone demo · pytest</a:t>
            </a:r>
          </a:p>
        </p:txBody>
      </p:sp>
      <p:sp>
        <p:nvSpPr>
          <p:cNvPr id="124" name="Stack why 6"/>
          <p:cNvSpPr txBox="1"/>
          <p:nvPr/>
        </p:nvSpPr>
        <p:spPr>
          <a:xfrm>
            <a:off x="8229600" y="5422392"/>
            <a:ext cx="2880360" cy="731520"/>
          </a:xfrm>
          <a:prstGeom prst="rect">
            <a:avLst/>
          </a:prstGeom>
          <a:noFill/>
          <a:ln>
            <a:noFill/>
          </a:ln>
        </p:spPr>
        <p:txBody>
          <a:bodyPr wrap="square" lIns="0" tIns="0" rIns="0" bIns="0" rtlCol="0" anchor="t">
            <a:noAutofit/>
          </a:bodyPr>
          <a:lstStyle/>
          <a:p>
            <a:pPr algn="l" marL="0" indent="0">
              <a:spcAft>
                <a:spcPts val="0"/>
              </a:spcAft>
              <a:buNone/>
            </a:pPr>
            <a:r>
              <a:rPr lang="en-US" sz="1400" dirty="0">
                <a:solidFill>
                  <a:srgbClr val="63637E"/>
                </a:solidFill>
                <a:latin typeface="Calibri"/>
                <a:cs typeface="Calibri"/>
              </a:rPr>
              <a:t>One-command setup, reproducible results</a:t>
            </a:r>
          </a:p>
        </p:txBody>
      </p:sp>
    </p:spTree>
    <p:extLst>
      <p:ext uri="{BB962C8B-B14F-4D97-AF65-F5344CB8AC3E}">
        <p14:creationId xmlns:p14="http://schemas.microsoft.com/office/powerpoint/2010/main" val="3724828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Impact &amp; Use case</a:t>
            </a:r>
            <a:endParaRPr lang="en-IN" b="1" dirty="0">
              <a:solidFill>
                <a:srgbClr val="704EA6"/>
              </a:solidFill>
            </a:endParaRPr>
          </a:p>
        </p:txBody>
      </p:sp>
      <p:sp>
        <p:nvSpPr>
          <p:cNvPr id="125" name="Stat card 1"/>
          <p:cNvSpPr/>
          <p:nvPr/>
        </p:nvSpPr>
        <p:spPr>
          <a:xfrm>
            <a:off x="822960" y="1554480"/>
            <a:ext cx="3337560" cy="1600200"/>
          </a:xfrm>
          <a:prstGeom prst="roundRect">
            <a:avLst>
              <a:gd name="adj" fmla="val 7000"/>
            </a:avLst>
          </a:prstGeom>
          <a:solidFill>
            <a:srgbClr val="6D28D9"/>
          </a:solidFill>
          <a:ln>
            <a:noFill/>
          </a:ln>
        </p:spPr>
        <p:txBody>
          <a:bodyPr rtlCol="0" anchor="ctr"/>
          <a:lstStyle/>
          <a:p>
            <a:endParaRPr lang="en-US"/>
          </a:p>
        </p:txBody>
      </p:sp>
      <p:sp>
        <p:nvSpPr>
          <p:cNvPr id="126" name="Stat value 1"/>
          <p:cNvSpPr txBox="1"/>
          <p:nvPr/>
        </p:nvSpPr>
        <p:spPr>
          <a:xfrm>
            <a:off x="1051560" y="1627632"/>
            <a:ext cx="2880360" cy="731520"/>
          </a:xfrm>
          <a:prstGeom prst="rect">
            <a:avLst/>
          </a:prstGeom>
          <a:noFill/>
          <a:ln>
            <a:noFill/>
          </a:ln>
        </p:spPr>
        <p:txBody>
          <a:bodyPr wrap="square" lIns="0" tIns="0" rIns="0" bIns="0" rtlCol="0" anchor="ctr">
            <a:noAutofit/>
          </a:bodyPr>
          <a:lstStyle/>
          <a:p>
            <a:pPr algn="l" marL="0" indent="0">
              <a:spcAft>
                <a:spcPts val="0"/>
              </a:spcAft>
              <a:buNone/>
            </a:pPr>
            <a:r>
              <a:rPr lang="en-US" sz="4000" b="1" dirty="0">
                <a:solidFill>
                  <a:srgbClr val="FFFFFF"/>
                </a:solidFill>
                <a:latin typeface="Calibri"/>
                <a:cs typeface="Calibri"/>
              </a:rPr>
              <a:t>&lt; 300 ms</a:t>
            </a:r>
          </a:p>
        </p:txBody>
      </p:sp>
      <p:sp>
        <p:nvSpPr>
          <p:cNvPr id="127" name="Stat caption 1"/>
          <p:cNvSpPr txBox="1"/>
          <p:nvPr/>
        </p:nvSpPr>
        <p:spPr>
          <a:xfrm>
            <a:off x="1051560" y="2377440"/>
            <a:ext cx="2880360" cy="685800"/>
          </a:xfrm>
          <a:prstGeom prst="rect">
            <a:avLst/>
          </a:prstGeom>
          <a:noFill/>
          <a:ln>
            <a:noFill/>
          </a:ln>
        </p:spPr>
        <p:txBody>
          <a:bodyPr wrap="square" lIns="0" tIns="0" rIns="0" bIns="0" rtlCol="0" anchor="t">
            <a:noAutofit/>
          </a:bodyPr>
          <a:lstStyle/>
          <a:p>
            <a:pPr algn="l" marL="0" indent="0">
              <a:spcAft>
                <a:spcPts val="0"/>
              </a:spcAft>
              <a:buNone/>
            </a:pPr>
            <a:r>
              <a:rPr lang="en-US" sz="1400" dirty="0">
                <a:solidFill>
                  <a:srgbClr val="FFFFFF"/>
                </a:solidFill>
                <a:latin typeface="Calibri"/>
                <a:cs typeface="Calibri"/>
              </a:rPr>
              <a:t>cached plan, versus ~15 min of manual triage today</a:t>
            </a:r>
          </a:p>
        </p:txBody>
      </p:sp>
      <p:sp>
        <p:nvSpPr>
          <p:cNvPr id="128" name="Stat card 2"/>
          <p:cNvSpPr/>
          <p:nvPr/>
        </p:nvSpPr>
        <p:spPr>
          <a:xfrm>
            <a:off x="4411980" y="1554480"/>
            <a:ext cx="3337560" cy="1600200"/>
          </a:xfrm>
          <a:prstGeom prst="roundRect">
            <a:avLst>
              <a:gd name="adj" fmla="val 7000"/>
            </a:avLst>
          </a:prstGeom>
          <a:solidFill>
            <a:srgbClr val="6D28D9"/>
          </a:solidFill>
          <a:ln>
            <a:noFill/>
          </a:ln>
        </p:spPr>
        <p:txBody>
          <a:bodyPr rtlCol="0" anchor="ctr"/>
          <a:lstStyle/>
          <a:p>
            <a:endParaRPr lang="en-US"/>
          </a:p>
        </p:txBody>
      </p:sp>
      <p:sp>
        <p:nvSpPr>
          <p:cNvPr id="129" name="Stat value 2"/>
          <p:cNvSpPr txBox="1"/>
          <p:nvPr/>
        </p:nvSpPr>
        <p:spPr>
          <a:xfrm>
            <a:off x="4640580" y="1627632"/>
            <a:ext cx="2880360" cy="731520"/>
          </a:xfrm>
          <a:prstGeom prst="rect">
            <a:avLst/>
          </a:prstGeom>
          <a:noFill/>
          <a:ln>
            <a:noFill/>
          </a:ln>
        </p:spPr>
        <p:txBody>
          <a:bodyPr wrap="square" lIns="0" tIns="0" rIns="0" bIns="0" rtlCol="0" anchor="ctr">
            <a:noAutofit/>
          </a:bodyPr>
          <a:lstStyle/>
          <a:p>
            <a:pPr algn="l" marL="0" indent="0">
              <a:spcAft>
                <a:spcPts val="0"/>
              </a:spcAft>
              <a:buNone/>
            </a:pPr>
            <a:r>
              <a:rPr lang="en-US" sz="4000" b="1" dirty="0">
                <a:solidFill>
                  <a:srgbClr val="FFFFFF"/>
                </a:solidFill>
                <a:latin typeface="Calibri"/>
                <a:cs typeface="Calibri"/>
              </a:rPr>
              <a:t>$0</a:t>
            </a:r>
          </a:p>
        </p:txBody>
      </p:sp>
      <p:sp>
        <p:nvSpPr>
          <p:cNvPr id="130" name="Stat caption 2"/>
          <p:cNvSpPr txBox="1"/>
          <p:nvPr/>
        </p:nvSpPr>
        <p:spPr>
          <a:xfrm>
            <a:off x="4640580" y="2377440"/>
            <a:ext cx="2880360" cy="685800"/>
          </a:xfrm>
          <a:prstGeom prst="rect">
            <a:avLst/>
          </a:prstGeom>
          <a:noFill/>
          <a:ln>
            <a:noFill/>
          </a:ln>
        </p:spPr>
        <p:txBody>
          <a:bodyPr wrap="square" lIns="0" tIns="0" rIns="0" bIns="0" rtlCol="0" anchor="t">
            <a:noAutofit/>
          </a:bodyPr>
          <a:lstStyle/>
          <a:p>
            <a:pPr algn="l" marL="0" indent="0">
              <a:spcAft>
                <a:spcPts val="0"/>
              </a:spcAft>
              <a:buNone/>
            </a:pPr>
            <a:r>
              <a:rPr lang="en-US" sz="1400" dirty="0">
                <a:solidFill>
                  <a:srgbClr val="FFFFFF"/>
                </a:solidFill>
                <a:latin typeface="Calibri"/>
                <a:cs typeface="Calibri"/>
              </a:rPr>
              <a:t>inference cost on a cache hit; the LLM runs only on a miss</a:t>
            </a:r>
          </a:p>
        </p:txBody>
      </p:sp>
      <p:sp>
        <p:nvSpPr>
          <p:cNvPr id="131" name="Stat card 3"/>
          <p:cNvSpPr/>
          <p:nvPr/>
        </p:nvSpPr>
        <p:spPr>
          <a:xfrm>
            <a:off x="8001000" y="1554480"/>
            <a:ext cx="3337560" cy="1600200"/>
          </a:xfrm>
          <a:prstGeom prst="roundRect">
            <a:avLst>
              <a:gd name="adj" fmla="val 7000"/>
            </a:avLst>
          </a:prstGeom>
          <a:solidFill>
            <a:srgbClr val="6D28D9"/>
          </a:solidFill>
          <a:ln>
            <a:noFill/>
          </a:ln>
        </p:spPr>
        <p:txBody>
          <a:bodyPr rtlCol="0" anchor="ctr"/>
          <a:lstStyle/>
          <a:p>
            <a:endParaRPr lang="en-US"/>
          </a:p>
        </p:txBody>
      </p:sp>
      <p:sp>
        <p:nvSpPr>
          <p:cNvPr id="132" name="Stat value 3"/>
          <p:cNvSpPr txBox="1"/>
          <p:nvPr/>
        </p:nvSpPr>
        <p:spPr>
          <a:xfrm>
            <a:off x="8229600" y="1627632"/>
            <a:ext cx="2880360" cy="731520"/>
          </a:xfrm>
          <a:prstGeom prst="rect">
            <a:avLst/>
          </a:prstGeom>
          <a:noFill/>
          <a:ln>
            <a:noFill/>
          </a:ln>
        </p:spPr>
        <p:txBody>
          <a:bodyPr wrap="square" lIns="0" tIns="0" rIns="0" bIns="0" rtlCol="0" anchor="ctr">
            <a:noAutofit/>
          </a:bodyPr>
          <a:lstStyle/>
          <a:p>
            <a:pPr algn="l" marL="0" indent="0">
              <a:spcAft>
                <a:spcPts val="0"/>
              </a:spcAft>
              <a:buNone/>
            </a:pPr>
            <a:r>
              <a:rPr lang="en-US" sz="4000" b="1" dirty="0">
                <a:solidFill>
                  <a:srgbClr val="FFFFFF"/>
                </a:solidFill>
                <a:latin typeface="Calibri"/>
                <a:cs typeface="Calibri"/>
              </a:rPr>
              <a:t>1 tap</a:t>
            </a:r>
          </a:p>
        </p:txBody>
      </p:sp>
      <p:sp>
        <p:nvSpPr>
          <p:cNvPr id="133" name="Stat caption 3"/>
          <p:cNvSpPr txBox="1"/>
          <p:nvPr/>
        </p:nvSpPr>
        <p:spPr>
          <a:xfrm>
            <a:off x="8229600" y="2377440"/>
            <a:ext cx="2880360" cy="685800"/>
          </a:xfrm>
          <a:prstGeom prst="rect">
            <a:avLst/>
          </a:prstGeom>
          <a:noFill/>
          <a:ln>
            <a:noFill/>
          </a:ln>
        </p:spPr>
        <p:txBody>
          <a:bodyPr wrap="square" lIns="0" tIns="0" rIns="0" bIns="0" rtlCol="0" anchor="t">
            <a:noAutofit/>
          </a:bodyPr>
          <a:lstStyle/>
          <a:p>
            <a:pPr algn="l" marL="0" indent="0">
              <a:spcAft>
                <a:spcPts val="0"/>
              </a:spcAft>
              <a:buNone/>
            </a:pPr>
            <a:r>
              <a:rPr lang="en-US" sz="1400" dirty="0">
                <a:solidFill>
                  <a:srgbClr val="FFFFFF"/>
                </a:solidFill>
                <a:latin typeface="Calibri"/>
                <a:cs typeface="Calibri"/>
              </a:rPr>
              <a:t>per remediation step through verified bixby:// deeplinks</a:t>
            </a:r>
          </a:p>
        </p:txBody>
      </p:sp>
      <p:sp>
        <p:nvSpPr>
          <p:cNvPr id="134" name="Use case card 1"/>
          <p:cNvSpPr/>
          <p:nvPr/>
        </p:nvSpPr>
        <p:spPr>
          <a:xfrm>
            <a:off x="822960" y="3383280"/>
            <a:ext cx="3337560" cy="1828800"/>
          </a:xfrm>
          <a:prstGeom prst="roundRect">
            <a:avLst>
              <a:gd name="adj" fmla="val 6000"/>
            </a:avLst>
          </a:prstGeom>
          <a:solidFill>
            <a:srgbClr val="F3EEFC"/>
          </a:solidFill>
          <a:ln w="12700">
            <a:solidFill>
              <a:srgbClr val="D9D3F0"/>
            </a:solidFill>
          </a:ln>
        </p:spPr>
        <p:txBody>
          <a:bodyPr rtlCol="0" anchor="ctr"/>
          <a:lstStyle/>
          <a:p>
            <a:endParaRPr lang="en-US"/>
          </a:p>
        </p:txBody>
      </p:sp>
      <p:sp>
        <p:nvSpPr>
          <p:cNvPr id="135" name="Use case badge 1"/>
          <p:cNvSpPr/>
          <p:nvPr/>
        </p:nvSpPr>
        <p:spPr>
          <a:xfrm>
            <a:off x="1005840" y="3547872"/>
            <a:ext cx="384048" cy="384048"/>
          </a:xfrm>
          <a:prstGeom prst="ellipse">
            <a:avLst/>
          </a:prstGeom>
          <a:solidFill>
            <a:srgbClr val="6D28D9"/>
          </a:solidFill>
          <a:ln>
            <a:noFill/>
          </a:ln>
        </p:spPr>
        <p:txBody>
          <a:bodyPr wrap="square" lIns="0" tIns="0" rIns="0" bIns="0" rtlCol="0" anchor="ctr">
            <a:noAutofit/>
          </a:bodyPr>
          <a:lstStyle/>
          <a:p>
            <a:pPr algn="ctr" marL="0" indent="0">
              <a:spcAft>
                <a:spcPts val="0"/>
              </a:spcAft>
              <a:buNone/>
            </a:pPr>
            <a:r>
              <a:rPr lang="en-US" sz="1400" b="1" dirty="0">
                <a:solidFill>
                  <a:srgbClr val="FFFFFF"/>
                </a:solidFill>
                <a:latin typeface="Calibri"/>
                <a:cs typeface="Calibri"/>
              </a:rPr>
              <a:t>A</a:t>
            </a:r>
          </a:p>
        </p:txBody>
      </p:sp>
      <p:sp>
        <p:nvSpPr>
          <p:cNvPr id="136" name="Use case title 1"/>
          <p:cNvSpPr txBox="1"/>
          <p:nvPr/>
        </p:nvSpPr>
        <p:spPr>
          <a:xfrm>
            <a:off x="1508760" y="3547872"/>
            <a:ext cx="2514600" cy="384048"/>
          </a:xfrm>
          <a:prstGeom prst="rect">
            <a:avLst/>
          </a:prstGeom>
          <a:noFill/>
          <a:ln>
            <a:noFill/>
          </a:ln>
        </p:spPr>
        <p:txBody>
          <a:bodyPr wrap="square" lIns="0" tIns="0" rIns="0" bIns="0" rtlCol="0" anchor="ctr">
            <a:noAutofit/>
          </a:bodyPr>
          <a:lstStyle/>
          <a:p>
            <a:pPr algn="l" marL="0" indent="0">
              <a:spcAft>
                <a:spcPts val="0"/>
              </a:spcAft>
              <a:buNone/>
            </a:pPr>
            <a:r>
              <a:rPr lang="en-US" sz="1600" b="1" dirty="0">
                <a:solidFill>
                  <a:srgbClr val="14142B"/>
                </a:solidFill>
                <a:latin typeface="Calibri"/>
                <a:cs typeface="Calibri"/>
              </a:rPr>
              <a:t>Support agents</a:t>
            </a:r>
          </a:p>
        </p:txBody>
      </p:sp>
      <p:sp>
        <p:nvSpPr>
          <p:cNvPr id="137" name="Use case text 1"/>
          <p:cNvSpPr txBox="1"/>
          <p:nvPr/>
        </p:nvSpPr>
        <p:spPr>
          <a:xfrm>
            <a:off x="1051560" y="4069080"/>
            <a:ext cx="2880360" cy="1371600"/>
          </a:xfrm>
          <a:prstGeom prst="rect">
            <a:avLst/>
          </a:prstGeom>
          <a:noFill/>
          <a:ln>
            <a:noFill/>
          </a:ln>
        </p:spPr>
        <p:txBody>
          <a:bodyPr wrap="square" lIns="0" tIns="0" rIns="0" bIns="0" rtlCol="0" anchor="t">
            <a:noAutofit/>
          </a:bodyPr>
          <a:lstStyle/>
          <a:p>
            <a:pPr algn="l" marL="0" indent="0">
              <a:spcAft>
                <a:spcPts val="0"/>
              </a:spcAft>
              <a:buNone/>
            </a:pPr>
            <a:r>
              <a:rPr lang="en-US" sz="1400" dirty="0">
                <a:solidFill>
                  <a:srgbClr val="63637E"/>
                </a:solidFill>
                <a:latin typeface="Calibri"/>
                <a:cs typeface="Calibri"/>
              </a:rPr>
              <a:t>Paste the customer’s own words and get a ready-to-send ordered plan instead of 15 minutes of manual triage.</a:t>
            </a:r>
          </a:p>
        </p:txBody>
      </p:sp>
      <p:sp>
        <p:nvSpPr>
          <p:cNvPr id="138" name="Use case card 2"/>
          <p:cNvSpPr/>
          <p:nvPr/>
        </p:nvSpPr>
        <p:spPr>
          <a:xfrm>
            <a:off x="4411980" y="3383280"/>
            <a:ext cx="3337560" cy="1828800"/>
          </a:xfrm>
          <a:prstGeom prst="roundRect">
            <a:avLst>
              <a:gd name="adj" fmla="val 6000"/>
            </a:avLst>
          </a:prstGeom>
          <a:solidFill>
            <a:srgbClr val="F3EEFC"/>
          </a:solidFill>
          <a:ln w="12700">
            <a:solidFill>
              <a:srgbClr val="D9D3F0"/>
            </a:solidFill>
          </a:ln>
        </p:spPr>
        <p:txBody>
          <a:bodyPr rtlCol="0" anchor="ctr"/>
          <a:lstStyle/>
          <a:p>
            <a:endParaRPr lang="en-US"/>
          </a:p>
        </p:txBody>
      </p:sp>
      <p:sp>
        <p:nvSpPr>
          <p:cNvPr id="139" name="Use case badge 2"/>
          <p:cNvSpPr/>
          <p:nvPr/>
        </p:nvSpPr>
        <p:spPr>
          <a:xfrm>
            <a:off x="4594860" y="3547872"/>
            <a:ext cx="384048" cy="384048"/>
          </a:xfrm>
          <a:prstGeom prst="ellipse">
            <a:avLst/>
          </a:prstGeom>
          <a:solidFill>
            <a:srgbClr val="6D28D9"/>
          </a:solidFill>
          <a:ln>
            <a:noFill/>
          </a:ln>
        </p:spPr>
        <p:txBody>
          <a:bodyPr wrap="square" lIns="0" tIns="0" rIns="0" bIns="0" rtlCol="0" anchor="ctr">
            <a:noAutofit/>
          </a:bodyPr>
          <a:lstStyle/>
          <a:p>
            <a:pPr algn="ctr" marL="0" indent="0">
              <a:spcAft>
                <a:spcPts val="0"/>
              </a:spcAft>
              <a:buNone/>
            </a:pPr>
            <a:r>
              <a:rPr lang="en-US" sz="1400" b="1" dirty="0">
                <a:solidFill>
                  <a:srgbClr val="FFFFFF"/>
                </a:solidFill>
                <a:latin typeface="Calibri"/>
                <a:cs typeface="Calibri"/>
              </a:rPr>
              <a:t>B</a:t>
            </a:r>
          </a:p>
        </p:txBody>
      </p:sp>
      <p:sp>
        <p:nvSpPr>
          <p:cNvPr id="140" name="Use case title 2"/>
          <p:cNvSpPr txBox="1"/>
          <p:nvPr/>
        </p:nvSpPr>
        <p:spPr>
          <a:xfrm>
            <a:off x="5097780" y="3547872"/>
            <a:ext cx="2514600" cy="384048"/>
          </a:xfrm>
          <a:prstGeom prst="rect">
            <a:avLst/>
          </a:prstGeom>
          <a:noFill/>
          <a:ln>
            <a:noFill/>
          </a:ln>
        </p:spPr>
        <p:txBody>
          <a:bodyPr wrap="square" lIns="0" tIns="0" rIns="0" bIns="0" rtlCol="0" anchor="ctr">
            <a:noAutofit/>
          </a:bodyPr>
          <a:lstStyle/>
          <a:p>
            <a:pPr algn="l" marL="0" indent="0">
              <a:spcAft>
                <a:spcPts val="0"/>
              </a:spcAft>
              <a:buNone/>
            </a:pPr>
            <a:r>
              <a:rPr lang="en-US" sz="1600" b="1" dirty="0">
                <a:solidFill>
                  <a:srgbClr val="14142B"/>
                </a:solidFill>
                <a:latin typeface="Calibri"/>
                <a:cs typeface="Calibri"/>
              </a:rPr>
              <a:t>In-app self-help</a:t>
            </a:r>
          </a:p>
        </p:txBody>
      </p:sp>
      <p:sp>
        <p:nvSpPr>
          <p:cNvPr id="141" name="Use case text 2"/>
          <p:cNvSpPr txBox="1"/>
          <p:nvPr/>
        </p:nvSpPr>
        <p:spPr>
          <a:xfrm>
            <a:off x="4640580" y="4069080"/>
            <a:ext cx="2880360" cy="1371600"/>
          </a:xfrm>
          <a:prstGeom prst="rect">
            <a:avLst/>
          </a:prstGeom>
          <a:noFill/>
          <a:ln>
            <a:noFill/>
          </a:ln>
        </p:spPr>
        <p:txBody>
          <a:bodyPr wrap="square" lIns="0" tIns="0" rIns="0" bIns="0" rtlCol="0" anchor="t">
            <a:noAutofit/>
          </a:bodyPr>
          <a:lstStyle/>
          <a:p>
            <a:pPr algn="l" marL="0" indent="0">
              <a:spcAft>
                <a:spcPts val="0"/>
              </a:spcAft>
              <a:buNone/>
            </a:pPr>
            <a:r>
              <a:rPr lang="en-US" sz="1400" dirty="0">
                <a:solidFill>
                  <a:srgbClr val="63637E"/>
                </a:solidFill>
                <a:latin typeface="Calibri"/>
                <a:cs typeface="Calibri"/>
              </a:rPr>
              <a:t>Customers describe the issue and fix it themselves with taps, with no call or chat queue.</a:t>
            </a:r>
          </a:p>
        </p:txBody>
      </p:sp>
      <p:sp>
        <p:nvSpPr>
          <p:cNvPr id="142" name="Use case card 3"/>
          <p:cNvSpPr/>
          <p:nvPr/>
        </p:nvSpPr>
        <p:spPr>
          <a:xfrm>
            <a:off x="8001000" y="3383280"/>
            <a:ext cx="3337560" cy="1828800"/>
          </a:xfrm>
          <a:prstGeom prst="roundRect">
            <a:avLst>
              <a:gd name="adj" fmla="val 6000"/>
            </a:avLst>
          </a:prstGeom>
          <a:solidFill>
            <a:srgbClr val="F3EEFC"/>
          </a:solidFill>
          <a:ln w="12700">
            <a:solidFill>
              <a:srgbClr val="D9D3F0"/>
            </a:solidFill>
          </a:ln>
        </p:spPr>
        <p:txBody>
          <a:bodyPr rtlCol="0" anchor="ctr"/>
          <a:lstStyle/>
          <a:p>
            <a:endParaRPr lang="en-US"/>
          </a:p>
        </p:txBody>
      </p:sp>
      <p:sp>
        <p:nvSpPr>
          <p:cNvPr id="143" name="Use case badge 3"/>
          <p:cNvSpPr/>
          <p:nvPr/>
        </p:nvSpPr>
        <p:spPr>
          <a:xfrm>
            <a:off x="8183880" y="3547872"/>
            <a:ext cx="384048" cy="384048"/>
          </a:xfrm>
          <a:prstGeom prst="ellipse">
            <a:avLst/>
          </a:prstGeom>
          <a:solidFill>
            <a:srgbClr val="6D28D9"/>
          </a:solidFill>
          <a:ln>
            <a:noFill/>
          </a:ln>
        </p:spPr>
        <p:txBody>
          <a:bodyPr wrap="square" lIns="0" tIns="0" rIns="0" bIns="0" rtlCol="0" anchor="ctr">
            <a:noAutofit/>
          </a:bodyPr>
          <a:lstStyle/>
          <a:p>
            <a:pPr algn="ctr" marL="0" indent="0">
              <a:spcAft>
                <a:spcPts val="0"/>
              </a:spcAft>
              <a:buNone/>
            </a:pPr>
            <a:r>
              <a:rPr lang="en-US" sz="1400" b="1" dirty="0">
                <a:solidFill>
                  <a:srgbClr val="FFFFFF"/>
                </a:solidFill>
                <a:latin typeface="Calibri"/>
                <a:cs typeface="Calibri"/>
              </a:rPr>
              <a:t>C</a:t>
            </a:r>
          </a:p>
        </p:txBody>
      </p:sp>
      <p:sp>
        <p:nvSpPr>
          <p:cNvPr id="144" name="Use case title 3"/>
          <p:cNvSpPr txBox="1"/>
          <p:nvPr/>
        </p:nvSpPr>
        <p:spPr>
          <a:xfrm>
            <a:off x="8686800" y="3547872"/>
            <a:ext cx="2514600" cy="384048"/>
          </a:xfrm>
          <a:prstGeom prst="rect">
            <a:avLst/>
          </a:prstGeom>
          <a:noFill/>
          <a:ln>
            <a:noFill/>
          </a:ln>
        </p:spPr>
        <p:txBody>
          <a:bodyPr wrap="square" lIns="0" tIns="0" rIns="0" bIns="0" rtlCol="0" anchor="ctr">
            <a:noAutofit/>
          </a:bodyPr>
          <a:lstStyle/>
          <a:p>
            <a:pPr algn="l" marL="0" indent="0">
              <a:spcAft>
                <a:spcPts val="0"/>
              </a:spcAft>
              <a:buNone/>
            </a:pPr>
            <a:r>
              <a:rPr lang="en-US" sz="1600" b="1" dirty="0">
                <a:solidFill>
                  <a:srgbClr val="14142B"/>
                </a:solidFill>
                <a:latin typeface="Calibri"/>
                <a:cs typeface="Calibri"/>
              </a:rPr>
              <a:t>Voice and chat assistants</a:t>
            </a:r>
          </a:p>
        </p:txBody>
      </p:sp>
      <p:sp>
        <p:nvSpPr>
          <p:cNvPr id="145" name="Use case text 3"/>
          <p:cNvSpPr txBox="1"/>
          <p:nvPr/>
        </p:nvSpPr>
        <p:spPr>
          <a:xfrm>
            <a:off x="8229600" y="4069080"/>
            <a:ext cx="2880360" cy="1371600"/>
          </a:xfrm>
          <a:prstGeom prst="rect">
            <a:avLst/>
          </a:prstGeom>
          <a:noFill/>
          <a:ln>
            <a:noFill/>
          </a:ln>
        </p:spPr>
        <p:txBody>
          <a:bodyPr wrap="square" lIns="0" tIns="0" rIns="0" bIns="0" rtlCol="0" anchor="t">
            <a:noAutofit/>
          </a:bodyPr>
          <a:lstStyle/>
          <a:p>
            <a:pPr algn="l" marL="0" indent="0">
              <a:spcAft>
                <a:spcPts val="0"/>
              </a:spcAft>
              <a:buNone/>
            </a:pPr>
            <a:r>
              <a:rPr lang="en-US" sz="1400" dirty="0">
                <a:solidFill>
                  <a:srgbClr val="63637E"/>
                </a:solidFill>
                <a:latin typeface="Calibri"/>
                <a:cs typeface="Calibri"/>
              </a:rPr>
              <a:t>Spoken or typed complaints resolve to one consistent plan: same problem, same answer.</a:t>
            </a:r>
          </a:p>
        </p:txBody>
      </p:sp>
      <p:sp>
        <p:nvSpPr>
          <p:cNvPr id="146" name="Impact strip"/>
          <p:cNvSpPr/>
          <p:nvPr/>
        </p:nvSpPr>
        <p:spPr>
          <a:xfrm>
            <a:off x="822960" y="5486400"/>
            <a:ext cx="10515600" cy="502920"/>
          </a:xfrm>
          <a:prstGeom prst="roundRect">
            <a:avLst>
              <a:gd name="adj" fmla="val 20000"/>
            </a:avLst>
          </a:prstGeom>
          <a:solidFill>
            <a:srgbClr val="FFFFFF"/>
          </a:solidFill>
          <a:ln w="15875">
            <a:solidFill>
              <a:srgbClr val="6D28D9"/>
            </a:solidFill>
          </a:ln>
        </p:spPr>
        <p:txBody>
          <a:bodyPr wrap="square" lIns="137160" tIns="18288" rIns="137160" bIns="18288" rtlCol="0" anchor="ctr">
            <a:noAutofit/>
          </a:bodyPr>
          <a:lstStyle/>
          <a:p>
            <a:pPr algn="ctr" marL="0" indent="0">
              <a:spcAft>
                <a:spcPts val="0"/>
              </a:spcAft>
              <a:buNone/>
            </a:pPr>
            <a:r>
              <a:rPr lang="en-US" sz="1400" b="1" dirty="0">
                <a:solidFill>
                  <a:srgbClr val="6D28D9"/>
                </a:solidFill>
                <a:latin typeface="Calibri"/>
                <a:cs typeface="Calibri"/>
              </a:rPr>
              <a:t>At millions of interactions globally, shorter handling time and fewer repeat contacts compound quickly.</a:t>
            </a:r>
          </a:p>
        </p:txBody>
      </p:sp>
    </p:spTree>
    <p:extLst>
      <p:ext uri="{BB962C8B-B14F-4D97-AF65-F5344CB8AC3E}">
        <p14:creationId xmlns:p14="http://schemas.microsoft.com/office/powerpoint/2010/main" val="3668119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Innovation highlights, results and limitations</a:t>
            </a:r>
            <a:endParaRPr lang="en-US" sz="4400" b="1" dirty="0">
              <a:solidFill>
                <a:srgbClr val="704EA6"/>
              </a:solidFill>
            </a:endParaRPr>
          </a:p>
        </p:txBody>
      </p:sp>
      <p:sp>
        <p:nvSpPr>
          <p:cNvPr id="147" name="Column header 1"/>
          <p:cNvSpPr/>
          <p:nvPr/>
        </p:nvSpPr>
        <p:spPr>
          <a:xfrm>
            <a:off x="822960" y="1554480"/>
            <a:ext cx="3337560" cy="457200"/>
          </a:xfrm>
          <a:prstGeom prst="roundRect">
            <a:avLst>
              <a:gd name="adj" fmla="val 15000"/>
            </a:avLst>
          </a:prstGeom>
          <a:solidFill>
            <a:srgbClr val="6D28D9"/>
          </a:solidFill>
          <a:ln>
            <a:noFill/>
          </a:ln>
        </p:spPr>
        <p:txBody>
          <a:bodyPr wrap="square" lIns="45720" tIns="0" rIns="45720" bIns="0" rtlCol="0" anchor="ctr">
            <a:noAutofit/>
          </a:bodyPr>
          <a:lstStyle/>
          <a:p>
            <a:pPr algn="ctr" marL="0" indent="0">
              <a:spcAft>
                <a:spcPts val="0"/>
              </a:spcAft>
              <a:buNone/>
            </a:pPr>
            <a:r>
              <a:rPr lang="en-US" sz="1500" b="1" dirty="0">
                <a:solidFill>
                  <a:srgbClr val="FFFFFF"/>
                </a:solidFill>
                <a:latin typeface="Calibri"/>
                <a:cs typeface="Calibri"/>
              </a:rPr>
              <a:t>Innovation highlights</a:t>
            </a:r>
          </a:p>
        </p:txBody>
      </p:sp>
      <p:sp>
        <p:nvSpPr>
          <p:cNvPr id="148" name="Column body 1"/>
          <p:cNvSpPr/>
          <p:nvPr/>
        </p:nvSpPr>
        <p:spPr>
          <a:xfrm>
            <a:off x="822960" y="2103120"/>
            <a:ext cx="3337560" cy="3749040"/>
          </a:xfrm>
          <a:prstGeom prst="roundRect">
            <a:avLst>
              <a:gd name="adj" fmla="val 3500"/>
            </a:avLst>
          </a:prstGeom>
          <a:solidFill>
            <a:srgbClr val="FFFFFF"/>
          </a:solidFill>
          <a:ln w="12700">
            <a:solidFill>
              <a:srgbClr val="D9D3F0"/>
            </a:solidFill>
          </a:ln>
        </p:spPr>
        <p:txBody>
          <a:bodyPr rtlCol="0" anchor="ctr"/>
          <a:lstStyle/>
          <a:p>
            <a:endParaRPr lang="en-US"/>
          </a:p>
        </p:txBody>
      </p:sp>
      <p:sp>
        <p:nvSpPr>
          <p:cNvPr id="149" name="Column header 2"/>
          <p:cNvSpPr/>
          <p:nvPr/>
        </p:nvSpPr>
        <p:spPr>
          <a:xfrm>
            <a:off x="4411980" y="1554480"/>
            <a:ext cx="3337560" cy="457200"/>
          </a:xfrm>
          <a:prstGeom prst="roundRect">
            <a:avLst>
              <a:gd name="adj" fmla="val 15000"/>
            </a:avLst>
          </a:prstGeom>
          <a:solidFill>
            <a:srgbClr val="6D28D9"/>
          </a:solidFill>
          <a:ln>
            <a:noFill/>
          </a:ln>
        </p:spPr>
        <p:txBody>
          <a:bodyPr wrap="square" lIns="45720" tIns="0" rIns="45720" bIns="0" rtlCol="0" anchor="ctr">
            <a:noAutofit/>
          </a:bodyPr>
          <a:lstStyle/>
          <a:p>
            <a:pPr algn="ctr" marL="0" indent="0">
              <a:spcAft>
                <a:spcPts val="0"/>
              </a:spcAft>
              <a:buNone/>
            </a:pPr>
            <a:r>
              <a:rPr lang="en-US" sz="1500" b="1" dirty="0">
                <a:solidFill>
                  <a:srgbClr val="FFFFFF"/>
                </a:solidFill>
                <a:latin typeface="Calibri"/>
                <a:cs typeface="Calibri"/>
              </a:rPr>
              <a:t>Results: targets we test against</a:t>
            </a:r>
          </a:p>
        </p:txBody>
      </p:sp>
      <p:sp>
        <p:nvSpPr>
          <p:cNvPr id="150" name="Column body 2"/>
          <p:cNvSpPr/>
          <p:nvPr/>
        </p:nvSpPr>
        <p:spPr>
          <a:xfrm>
            <a:off x="4411980" y="2103120"/>
            <a:ext cx="3337560" cy="3749040"/>
          </a:xfrm>
          <a:prstGeom prst="roundRect">
            <a:avLst>
              <a:gd name="adj" fmla="val 3500"/>
            </a:avLst>
          </a:prstGeom>
          <a:solidFill>
            <a:srgbClr val="FFFFFF"/>
          </a:solidFill>
          <a:ln w="12700">
            <a:solidFill>
              <a:srgbClr val="D9D3F0"/>
            </a:solidFill>
          </a:ln>
        </p:spPr>
        <p:txBody>
          <a:bodyPr rtlCol="0" anchor="ctr"/>
          <a:lstStyle/>
          <a:p>
            <a:endParaRPr lang="en-US"/>
          </a:p>
        </p:txBody>
      </p:sp>
      <p:sp>
        <p:nvSpPr>
          <p:cNvPr id="151" name="Column header 3"/>
          <p:cNvSpPr/>
          <p:nvPr/>
        </p:nvSpPr>
        <p:spPr>
          <a:xfrm>
            <a:off x="8001000" y="1554480"/>
            <a:ext cx="3337560" cy="457200"/>
          </a:xfrm>
          <a:prstGeom prst="roundRect">
            <a:avLst>
              <a:gd name="adj" fmla="val 15000"/>
            </a:avLst>
          </a:prstGeom>
          <a:solidFill>
            <a:srgbClr val="6D28D9"/>
          </a:solidFill>
          <a:ln>
            <a:noFill/>
          </a:ln>
        </p:spPr>
        <p:txBody>
          <a:bodyPr wrap="square" lIns="45720" tIns="0" rIns="45720" bIns="0" rtlCol="0" anchor="ctr">
            <a:noAutofit/>
          </a:bodyPr>
          <a:lstStyle/>
          <a:p>
            <a:pPr algn="ctr" marL="0" indent="0">
              <a:spcAft>
                <a:spcPts val="0"/>
              </a:spcAft>
              <a:buNone/>
            </a:pPr>
            <a:r>
              <a:rPr lang="en-US" sz="1500" b="1" dirty="0">
                <a:solidFill>
                  <a:srgbClr val="FFFFFF"/>
                </a:solidFill>
                <a:latin typeface="Calibri"/>
                <a:cs typeface="Calibri"/>
              </a:rPr>
              <a:t>Limitations</a:t>
            </a:r>
          </a:p>
        </p:txBody>
      </p:sp>
      <p:sp>
        <p:nvSpPr>
          <p:cNvPr id="152" name="Column body 3"/>
          <p:cNvSpPr/>
          <p:nvPr/>
        </p:nvSpPr>
        <p:spPr>
          <a:xfrm>
            <a:off x="8001000" y="2103120"/>
            <a:ext cx="3337560" cy="3749040"/>
          </a:xfrm>
          <a:prstGeom prst="roundRect">
            <a:avLst>
              <a:gd name="adj" fmla="val 3500"/>
            </a:avLst>
          </a:prstGeom>
          <a:solidFill>
            <a:srgbClr val="FFFFFF"/>
          </a:solidFill>
          <a:ln w="12700">
            <a:solidFill>
              <a:srgbClr val="D9D3F0"/>
            </a:solidFill>
          </a:ln>
        </p:spPr>
        <p:txBody>
          <a:bodyPr rtlCol="0" anchor="ctr"/>
          <a:lstStyle/>
          <a:p>
            <a:endParaRPr lang="en-US"/>
          </a:p>
        </p:txBody>
      </p:sp>
      <p:sp>
        <p:nvSpPr>
          <p:cNvPr id="153" name="Innovation bullets"/>
          <p:cNvSpPr txBox="1"/>
          <p:nvPr/>
        </p:nvSpPr>
        <p:spPr>
          <a:xfrm>
            <a:off x="1024128" y="2286000"/>
            <a:ext cx="2935224" cy="3840480"/>
          </a:xfrm>
          <a:prstGeom prst="rect">
            <a:avLst/>
          </a:prstGeom>
          <a:noFill/>
          <a:ln>
            <a:noFill/>
          </a:ln>
        </p:spPr>
        <p:txBody>
          <a:bodyPr wrap="square" lIns="0" tIns="0" rIns="0" bIns="0" rtlCol="0" anchor="t">
            <a:noAutofit/>
          </a:bodyPr>
          <a:lstStyle/>
          <a:p>
            <a:pPr algn="l" marL="228600" indent="-228600">
              <a:spcAft>
                <a:spcPts val="900"/>
              </a:spcAft>
              <a:buFont typeface="Arial"/>
              <a:buChar char="•"/>
            </a:pPr>
            <a:r>
              <a:rPr lang="en-US" sz="1400" dirty="0">
                <a:solidFill>
                  <a:srgbClr val="14142B"/>
                </a:solidFill>
                <a:latin typeface="Calibri"/>
                <a:cs typeface="Calibri"/>
              </a:rPr>
              <a:t>Cache-first design: the LLM is called only on a miss</a:t>
            </a:r>
          </a:p>
          <a:p>
            <a:pPr algn="l" marL="228600" indent="-228600">
              <a:spcAft>
                <a:spcPts val="900"/>
              </a:spcAft>
              <a:buFont typeface="Arial"/>
              <a:buChar char="•"/>
            </a:pPr>
            <a:r>
              <a:rPr lang="en-US" sz="1400" dirty="0">
                <a:solidFill>
                  <a:srgbClr val="14142B"/>
                </a:solidFill>
                <a:latin typeface="Calibri"/>
                <a:cs typeface="Calibri"/>
              </a:rPr>
              <a:t>Hybrid BM25 + dense retrieval over deeplink descriptions</a:t>
            </a:r>
          </a:p>
          <a:p>
            <a:pPr algn="l" marL="228600" indent="-228600">
              <a:spcAft>
                <a:spcPts val="900"/>
              </a:spcAft>
              <a:buFont typeface="Arial"/>
              <a:buChar char="•"/>
            </a:pPr>
            <a:r>
              <a:rPr lang="en-US" sz="1400" dirty="0">
                <a:solidFill>
                  <a:srgbClr val="14142B"/>
                </a:solidFill>
                <a:latin typeface="Calibri"/>
                <a:cs typeface="Calibri"/>
              </a:rPr>
              <a:t>Guardrails in code: URL scrub, word-count repair, ordering</a:t>
            </a:r>
          </a:p>
          <a:p>
            <a:pPr algn="l" marL="228600" indent="-228600">
              <a:spcAft>
                <a:spcPts val="900"/>
              </a:spcAft>
              <a:buFont typeface="Arial"/>
              <a:buChar char="•"/>
            </a:pPr>
            <a:r>
              <a:rPr lang="en-US" sz="1400" dirty="0">
                <a:solidFill>
                  <a:srgbClr val="14142B"/>
                </a:solidFill>
                <a:latin typeface="Calibri"/>
                <a:cs typeface="Calibri"/>
              </a:rPr>
              <a:t>Confidence from retrieval, with an honest no_match fallback</a:t>
            </a:r>
          </a:p>
        </p:txBody>
      </p:sp>
      <p:sp>
        <p:nvSpPr>
          <p:cNvPr id="154" name="Result band 1"/>
          <p:cNvSpPr/>
          <p:nvPr/>
        </p:nvSpPr>
        <p:spPr>
          <a:xfrm>
            <a:off x="4503420" y="2212848"/>
            <a:ext cx="3154680" cy="457200"/>
          </a:xfrm>
          <a:prstGeom prst="rect">
            <a:avLst/>
          </a:prstGeom>
          <a:solidFill>
            <a:srgbClr val="F3EEFC"/>
          </a:solidFill>
          <a:ln>
            <a:noFill/>
          </a:ln>
        </p:spPr>
        <p:txBody>
          <a:bodyPr rtlCol="0" anchor="ctr"/>
          <a:lstStyle/>
          <a:p>
            <a:endParaRPr lang="en-US"/>
          </a:p>
        </p:txBody>
      </p:sp>
      <p:sp>
        <p:nvSpPr>
          <p:cNvPr id="155" name="Result metric 1"/>
          <p:cNvSpPr txBox="1"/>
          <p:nvPr/>
        </p:nvSpPr>
        <p:spPr>
          <a:xfrm>
            <a:off x="4594860" y="2212848"/>
            <a:ext cx="2011680" cy="457200"/>
          </a:xfrm>
          <a:prstGeom prst="rect">
            <a:avLst/>
          </a:prstGeom>
          <a:noFill/>
          <a:ln>
            <a:noFill/>
          </a:ln>
        </p:spPr>
        <p:txBody>
          <a:bodyPr wrap="square" lIns="0" tIns="0" rIns="0" bIns="0" rtlCol="0" anchor="ctr">
            <a:noAutofit/>
          </a:bodyPr>
          <a:lstStyle/>
          <a:p>
            <a:pPr algn="l" marL="0" indent="0">
              <a:spcAft>
                <a:spcPts val="0"/>
              </a:spcAft>
              <a:buNone/>
            </a:pPr>
            <a:r>
              <a:rPr lang="en-US" sz="1300" dirty="0">
                <a:solidFill>
                  <a:srgbClr val="14142B"/>
                </a:solidFill>
                <a:latin typeface="Calibri"/>
                <a:cs typeface="Calibri"/>
              </a:rPr>
              <a:t>Schema-valid output</a:t>
            </a:r>
          </a:p>
        </p:txBody>
      </p:sp>
      <p:sp>
        <p:nvSpPr>
          <p:cNvPr id="156" name="Result target 1"/>
          <p:cNvSpPr txBox="1"/>
          <p:nvPr/>
        </p:nvSpPr>
        <p:spPr>
          <a:xfrm>
            <a:off x="6560820" y="2212848"/>
            <a:ext cx="1051560" cy="457200"/>
          </a:xfrm>
          <a:prstGeom prst="rect">
            <a:avLst/>
          </a:prstGeom>
          <a:noFill/>
          <a:ln>
            <a:noFill/>
          </a:ln>
        </p:spPr>
        <p:txBody>
          <a:bodyPr wrap="square" lIns="0" tIns="0" rIns="0" bIns="0" rtlCol="0" anchor="ctr">
            <a:noAutofit/>
          </a:bodyPr>
          <a:lstStyle/>
          <a:p>
            <a:pPr algn="r" marL="0" indent="0">
              <a:spcAft>
                <a:spcPts val="0"/>
              </a:spcAft>
              <a:buNone/>
            </a:pPr>
            <a:r>
              <a:rPr lang="en-US" sz="1400" b="1" dirty="0">
                <a:solidFill>
                  <a:srgbClr val="6D28D9"/>
                </a:solidFill>
                <a:latin typeface="Calibri"/>
                <a:cs typeface="Calibri"/>
              </a:rPr>
              <a:t>≥ 99%</a:t>
            </a:r>
          </a:p>
        </p:txBody>
      </p:sp>
      <p:sp>
        <p:nvSpPr>
          <p:cNvPr id="157" name="Result metric 2"/>
          <p:cNvSpPr txBox="1"/>
          <p:nvPr/>
        </p:nvSpPr>
        <p:spPr>
          <a:xfrm>
            <a:off x="4594860" y="2688336"/>
            <a:ext cx="2011680" cy="457200"/>
          </a:xfrm>
          <a:prstGeom prst="rect">
            <a:avLst/>
          </a:prstGeom>
          <a:noFill/>
          <a:ln>
            <a:noFill/>
          </a:ln>
        </p:spPr>
        <p:txBody>
          <a:bodyPr wrap="square" lIns="0" tIns="0" rIns="0" bIns="0" rtlCol="0" anchor="ctr">
            <a:noAutofit/>
          </a:bodyPr>
          <a:lstStyle/>
          <a:p>
            <a:pPr algn="l" marL="0" indent="0">
              <a:spcAft>
                <a:spcPts val="0"/>
              </a:spcAft>
              <a:buNone/>
            </a:pPr>
            <a:r>
              <a:rPr lang="en-US" sz="1300" dirty="0">
                <a:solidFill>
                  <a:srgbClr val="14142B"/>
                </a:solidFill>
                <a:latin typeface="Calibri"/>
                <a:cs typeface="Calibri"/>
              </a:rPr>
              <a:t>Absolute URL leaks</a:t>
            </a:r>
          </a:p>
        </p:txBody>
      </p:sp>
      <p:sp>
        <p:nvSpPr>
          <p:cNvPr id="158" name="Result target 2"/>
          <p:cNvSpPr txBox="1"/>
          <p:nvPr/>
        </p:nvSpPr>
        <p:spPr>
          <a:xfrm>
            <a:off x="6560820" y="2688336"/>
            <a:ext cx="1051560" cy="457200"/>
          </a:xfrm>
          <a:prstGeom prst="rect">
            <a:avLst/>
          </a:prstGeom>
          <a:noFill/>
          <a:ln>
            <a:noFill/>
          </a:ln>
        </p:spPr>
        <p:txBody>
          <a:bodyPr wrap="square" lIns="0" tIns="0" rIns="0" bIns="0" rtlCol="0" anchor="ctr">
            <a:noAutofit/>
          </a:bodyPr>
          <a:lstStyle/>
          <a:p>
            <a:pPr algn="r" marL="0" indent="0">
              <a:spcAft>
                <a:spcPts val="0"/>
              </a:spcAft>
              <a:buNone/>
            </a:pPr>
            <a:r>
              <a:rPr lang="en-US" sz="1400" b="1" dirty="0">
                <a:solidFill>
                  <a:srgbClr val="6D28D9"/>
                </a:solidFill>
                <a:latin typeface="Calibri"/>
                <a:cs typeface="Calibri"/>
              </a:rPr>
              <a:t>0</a:t>
            </a:r>
          </a:p>
        </p:txBody>
      </p:sp>
      <p:sp>
        <p:nvSpPr>
          <p:cNvPr id="159" name="Result band 3"/>
          <p:cNvSpPr/>
          <p:nvPr/>
        </p:nvSpPr>
        <p:spPr>
          <a:xfrm>
            <a:off x="4503420" y="3163824"/>
            <a:ext cx="3154680" cy="457200"/>
          </a:xfrm>
          <a:prstGeom prst="rect">
            <a:avLst/>
          </a:prstGeom>
          <a:solidFill>
            <a:srgbClr val="F3EEFC"/>
          </a:solidFill>
          <a:ln>
            <a:noFill/>
          </a:ln>
        </p:spPr>
        <p:txBody>
          <a:bodyPr rtlCol="0" anchor="ctr"/>
          <a:lstStyle/>
          <a:p>
            <a:endParaRPr lang="en-US"/>
          </a:p>
        </p:txBody>
      </p:sp>
      <p:sp>
        <p:nvSpPr>
          <p:cNvPr id="160" name="Result metric 3"/>
          <p:cNvSpPr txBox="1"/>
          <p:nvPr/>
        </p:nvSpPr>
        <p:spPr>
          <a:xfrm>
            <a:off x="4594860" y="3163824"/>
            <a:ext cx="2011680" cy="457200"/>
          </a:xfrm>
          <a:prstGeom prst="rect">
            <a:avLst/>
          </a:prstGeom>
          <a:noFill/>
          <a:ln>
            <a:noFill/>
          </a:ln>
        </p:spPr>
        <p:txBody>
          <a:bodyPr wrap="square" lIns="0" tIns="0" rIns="0" bIns="0" rtlCol="0" anchor="ctr">
            <a:noAutofit/>
          </a:bodyPr>
          <a:lstStyle/>
          <a:p>
            <a:pPr algn="l" marL="0" indent="0">
              <a:spcAft>
                <a:spcPts val="0"/>
              </a:spcAft>
              <a:buNone/>
            </a:pPr>
            <a:r>
              <a:rPr lang="en-US" sz="1300" dirty="0">
                <a:solidFill>
                  <a:srgbClr val="14142B"/>
                </a:solidFill>
                <a:latin typeface="Calibri"/>
                <a:cs typeface="Calibri"/>
              </a:rPr>
              <a:t>Catalog-exact deeplinks</a:t>
            </a:r>
          </a:p>
        </p:txBody>
      </p:sp>
      <p:sp>
        <p:nvSpPr>
          <p:cNvPr id="161" name="Result target 3"/>
          <p:cNvSpPr txBox="1"/>
          <p:nvPr/>
        </p:nvSpPr>
        <p:spPr>
          <a:xfrm>
            <a:off x="6560820" y="3163824"/>
            <a:ext cx="1051560" cy="457200"/>
          </a:xfrm>
          <a:prstGeom prst="rect">
            <a:avLst/>
          </a:prstGeom>
          <a:noFill/>
          <a:ln>
            <a:noFill/>
          </a:ln>
        </p:spPr>
        <p:txBody>
          <a:bodyPr wrap="square" lIns="0" tIns="0" rIns="0" bIns="0" rtlCol="0" anchor="ctr">
            <a:noAutofit/>
          </a:bodyPr>
          <a:lstStyle/>
          <a:p>
            <a:pPr algn="r" marL="0" indent="0">
              <a:spcAft>
                <a:spcPts val="0"/>
              </a:spcAft>
              <a:buNone/>
            </a:pPr>
            <a:r>
              <a:rPr lang="en-US" sz="1400" b="1" dirty="0">
                <a:solidFill>
                  <a:srgbClr val="6D28D9"/>
                </a:solidFill>
                <a:latin typeface="Calibri"/>
                <a:cs typeface="Calibri"/>
              </a:rPr>
              <a:t>100%</a:t>
            </a:r>
          </a:p>
        </p:txBody>
      </p:sp>
      <p:sp>
        <p:nvSpPr>
          <p:cNvPr id="162" name="Result metric 4"/>
          <p:cNvSpPr txBox="1"/>
          <p:nvPr/>
        </p:nvSpPr>
        <p:spPr>
          <a:xfrm>
            <a:off x="4594860" y="3639312"/>
            <a:ext cx="2011680" cy="457200"/>
          </a:xfrm>
          <a:prstGeom prst="rect">
            <a:avLst/>
          </a:prstGeom>
          <a:noFill/>
          <a:ln>
            <a:noFill/>
          </a:ln>
        </p:spPr>
        <p:txBody>
          <a:bodyPr wrap="square" lIns="0" tIns="0" rIns="0" bIns="0" rtlCol="0" anchor="ctr">
            <a:noAutofit/>
          </a:bodyPr>
          <a:lstStyle/>
          <a:p>
            <a:pPr algn="l" marL="0" indent="0">
              <a:spcAft>
                <a:spcPts val="0"/>
              </a:spcAft>
              <a:buNone/>
            </a:pPr>
            <a:r>
              <a:rPr lang="en-US" sz="1300" dirty="0">
                <a:solidFill>
                  <a:srgbClr val="14142B"/>
                </a:solidFill>
                <a:latin typeface="Calibri"/>
                <a:cs typeface="Calibri"/>
              </a:rPr>
              <a:t>Paraphrase cache hit</a:t>
            </a:r>
          </a:p>
        </p:txBody>
      </p:sp>
      <p:sp>
        <p:nvSpPr>
          <p:cNvPr id="163" name="Result target 4"/>
          <p:cNvSpPr txBox="1"/>
          <p:nvPr/>
        </p:nvSpPr>
        <p:spPr>
          <a:xfrm>
            <a:off x="6560820" y="3639312"/>
            <a:ext cx="1051560" cy="457200"/>
          </a:xfrm>
          <a:prstGeom prst="rect">
            <a:avLst/>
          </a:prstGeom>
          <a:noFill/>
          <a:ln>
            <a:noFill/>
          </a:ln>
        </p:spPr>
        <p:txBody>
          <a:bodyPr wrap="square" lIns="0" tIns="0" rIns="0" bIns="0" rtlCol="0" anchor="ctr">
            <a:noAutofit/>
          </a:bodyPr>
          <a:lstStyle/>
          <a:p>
            <a:pPr algn="r" marL="0" indent="0">
              <a:spcAft>
                <a:spcPts val="0"/>
              </a:spcAft>
              <a:buNone/>
            </a:pPr>
            <a:r>
              <a:rPr lang="en-US" sz="1400" b="1" dirty="0">
                <a:solidFill>
                  <a:srgbClr val="6D28D9"/>
                </a:solidFill>
                <a:latin typeface="Calibri"/>
                <a:cs typeface="Calibri"/>
              </a:rPr>
              <a:t>≥ 80%</a:t>
            </a:r>
          </a:p>
        </p:txBody>
      </p:sp>
      <p:sp>
        <p:nvSpPr>
          <p:cNvPr id="164" name="Result band 5"/>
          <p:cNvSpPr/>
          <p:nvPr/>
        </p:nvSpPr>
        <p:spPr>
          <a:xfrm>
            <a:off x="4503420" y="4114800"/>
            <a:ext cx="3154680" cy="457200"/>
          </a:xfrm>
          <a:prstGeom prst="rect">
            <a:avLst/>
          </a:prstGeom>
          <a:solidFill>
            <a:srgbClr val="F3EEFC"/>
          </a:solidFill>
          <a:ln>
            <a:noFill/>
          </a:ln>
        </p:spPr>
        <p:txBody>
          <a:bodyPr rtlCol="0" anchor="ctr"/>
          <a:lstStyle/>
          <a:p>
            <a:endParaRPr lang="en-US"/>
          </a:p>
        </p:txBody>
      </p:sp>
      <p:sp>
        <p:nvSpPr>
          <p:cNvPr id="165" name="Result metric 5"/>
          <p:cNvSpPr txBox="1"/>
          <p:nvPr/>
        </p:nvSpPr>
        <p:spPr>
          <a:xfrm>
            <a:off x="4594860" y="4114800"/>
            <a:ext cx="2011680" cy="457200"/>
          </a:xfrm>
          <a:prstGeom prst="rect">
            <a:avLst/>
          </a:prstGeom>
          <a:noFill/>
          <a:ln>
            <a:noFill/>
          </a:ln>
        </p:spPr>
        <p:txBody>
          <a:bodyPr wrap="square" lIns="0" tIns="0" rIns="0" bIns="0" rtlCol="0" anchor="ctr">
            <a:noAutofit/>
          </a:bodyPr>
          <a:lstStyle/>
          <a:p>
            <a:pPr algn="l" marL="0" indent="0">
              <a:spcAft>
                <a:spcPts val="0"/>
              </a:spcAft>
              <a:buNone/>
            </a:pPr>
            <a:r>
              <a:rPr lang="en-US" sz="1300" dirty="0">
                <a:solidFill>
                  <a:srgbClr val="14142B"/>
                </a:solidFill>
                <a:latin typeface="Calibri"/>
                <a:cs typeface="Calibri"/>
              </a:rPr>
              <a:t>P95 latency, cache hit</a:t>
            </a:r>
          </a:p>
        </p:txBody>
      </p:sp>
      <p:sp>
        <p:nvSpPr>
          <p:cNvPr id="166" name="Result target 5"/>
          <p:cNvSpPr txBox="1"/>
          <p:nvPr/>
        </p:nvSpPr>
        <p:spPr>
          <a:xfrm>
            <a:off x="6560820" y="4114800"/>
            <a:ext cx="1051560" cy="457200"/>
          </a:xfrm>
          <a:prstGeom prst="rect">
            <a:avLst/>
          </a:prstGeom>
          <a:noFill/>
          <a:ln>
            <a:noFill/>
          </a:ln>
        </p:spPr>
        <p:txBody>
          <a:bodyPr wrap="square" lIns="0" tIns="0" rIns="0" bIns="0" rtlCol="0" anchor="ctr">
            <a:noAutofit/>
          </a:bodyPr>
          <a:lstStyle/>
          <a:p>
            <a:pPr algn="r" marL="0" indent="0">
              <a:spcAft>
                <a:spcPts val="0"/>
              </a:spcAft>
              <a:buNone/>
            </a:pPr>
            <a:r>
              <a:rPr lang="en-US" sz="1400" b="1" dirty="0">
                <a:solidFill>
                  <a:srgbClr val="6D28D9"/>
                </a:solidFill>
                <a:latin typeface="Calibri"/>
                <a:cs typeface="Calibri"/>
              </a:rPr>
              <a:t>≤ 300 ms</a:t>
            </a:r>
          </a:p>
        </p:txBody>
      </p:sp>
      <p:sp>
        <p:nvSpPr>
          <p:cNvPr id="167" name="Result metric 6"/>
          <p:cNvSpPr txBox="1"/>
          <p:nvPr/>
        </p:nvSpPr>
        <p:spPr>
          <a:xfrm>
            <a:off x="4594860" y="4590288"/>
            <a:ext cx="2011680" cy="457200"/>
          </a:xfrm>
          <a:prstGeom prst="rect">
            <a:avLst/>
          </a:prstGeom>
          <a:noFill/>
          <a:ln>
            <a:noFill/>
          </a:ln>
        </p:spPr>
        <p:txBody>
          <a:bodyPr wrap="square" lIns="0" tIns="0" rIns="0" bIns="0" rtlCol="0" anchor="ctr">
            <a:noAutofit/>
          </a:bodyPr>
          <a:lstStyle/>
          <a:p>
            <a:pPr algn="l" marL="0" indent="0">
              <a:spcAft>
                <a:spcPts val="0"/>
              </a:spcAft>
              <a:buNone/>
            </a:pPr>
            <a:r>
              <a:rPr lang="en-US" sz="1300" dirty="0">
                <a:solidFill>
                  <a:srgbClr val="14142B"/>
                </a:solidFill>
                <a:latin typeface="Calibri"/>
                <a:cs typeface="Calibri"/>
              </a:rPr>
              <a:t>P95 latency, cold path</a:t>
            </a:r>
          </a:p>
        </p:txBody>
      </p:sp>
      <p:sp>
        <p:nvSpPr>
          <p:cNvPr id="168" name="Result target 6"/>
          <p:cNvSpPr txBox="1"/>
          <p:nvPr/>
        </p:nvSpPr>
        <p:spPr>
          <a:xfrm>
            <a:off x="6560820" y="4590288"/>
            <a:ext cx="1051560" cy="457200"/>
          </a:xfrm>
          <a:prstGeom prst="rect">
            <a:avLst/>
          </a:prstGeom>
          <a:noFill/>
          <a:ln>
            <a:noFill/>
          </a:ln>
        </p:spPr>
        <p:txBody>
          <a:bodyPr wrap="square" lIns="0" tIns="0" rIns="0" bIns="0" rtlCol="0" anchor="ctr">
            <a:noAutofit/>
          </a:bodyPr>
          <a:lstStyle/>
          <a:p>
            <a:pPr algn="r" marL="0" indent="0">
              <a:spcAft>
                <a:spcPts val="0"/>
              </a:spcAft>
              <a:buNone/>
            </a:pPr>
            <a:r>
              <a:rPr lang="en-US" sz="1400" b="1" dirty="0">
                <a:solidFill>
                  <a:srgbClr val="6D28D9"/>
                </a:solidFill>
                <a:latin typeface="Calibri"/>
                <a:cs typeface="Calibri"/>
              </a:rPr>
              <a:t>≤ 8 s</a:t>
            </a:r>
          </a:p>
        </p:txBody>
      </p:sp>
      <p:sp>
        <p:nvSpPr>
          <p:cNvPr id="169" name="Result note"/>
          <p:cNvSpPr txBox="1"/>
          <p:nvPr/>
        </p:nvSpPr>
        <p:spPr>
          <a:xfrm>
            <a:off x="4613148" y="5166360"/>
            <a:ext cx="2935224" cy="960120"/>
          </a:xfrm>
          <a:prstGeom prst="rect">
            <a:avLst/>
          </a:prstGeom>
          <a:noFill/>
          <a:ln>
            <a:noFill/>
          </a:ln>
        </p:spPr>
        <p:txBody>
          <a:bodyPr wrap="square" lIns="0" tIns="0" rIns="0" bIns="0" rtlCol="0" anchor="t">
            <a:noAutofit/>
          </a:bodyPr>
          <a:lstStyle/>
          <a:p>
            <a:pPr algn="l" marL="0" indent="0">
              <a:spcAft>
                <a:spcPts val="0"/>
              </a:spcAft>
              <a:buNone/>
            </a:pPr>
            <a:r>
              <a:rPr lang="en-US" sz="1200" i="1" dirty="0">
                <a:solidFill>
                  <a:srgbClr val="63637E"/>
                </a:solidFill>
                <a:latin typeface="Calibri"/>
                <a:cs typeface="Calibri"/>
              </a:rPr>
              <a:t>Measured values and the architecture ablation (LLM vs hybrid vs rules-only) are logged in metrics.md in our repo.</a:t>
            </a:r>
          </a:p>
        </p:txBody>
      </p:sp>
      <p:sp>
        <p:nvSpPr>
          <p:cNvPr id="170" name="Limitation bullets"/>
          <p:cNvSpPr txBox="1"/>
          <p:nvPr/>
        </p:nvSpPr>
        <p:spPr>
          <a:xfrm>
            <a:off x="8202168" y="2286000"/>
            <a:ext cx="2935224" cy="3840480"/>
          </a:xfrm>
          <a:prstGeom prst="rect">
            <a:avLst/>
          </a:prstGeom>
          <a:noFill/>
          <a:ln>
            <a:noFill/>
          </a:ln>
        </p:spPr>
        <p:txBody>
          <a:bodyPr wrap="square" lIns="0" tIns="0" rIns="0" bIns="0" rtlCol="0" anchor="t">
            <a:noAutofit/>
          </a:bodyPr>
          <a:lstStyle/>
          <a:p>
            <a:pPr algn="l" marL="228600" indent="-228600">
              <a:spcAft>
                <a:spcPts val="700"/>
              </a:spcAft>
              <a:buFont typeface="Arial"/>
              <a:buChar char="•"/>
            </a:pPr>
            <a:r>
              <a:rPr lang="en-US" sz="1400" dirty="0">
                <a:solidFill>
                  <a:srgbClr val="14142B"/>
                </a:solidFill>
                <a:latin typeface="Calibri"/>
                <a:cs typeface="Calibri"/>
              </a:rPr>
              <a:t>Covers issues in the knowledge base; unknown issues return no_match by design</a:t>
            </a:r>
          </a:p>
          <a:p>
            <a:pPr algn="l" marL="228600" indent="-228600">
              <a:spcAft>
                <a:spcPts val="700"/>
              </a:spcAft>
              <a:buFont typeface="Arial"/>
              <a:buChar char="•"/>
            </a:pPr>
            <a:r>
              <a:rPr lang="en-US" sz="1400" dirty="0">
                <a:solidFill>
                  <a:srgbClr val="14142B"/>
                </a:solidFill>
                <a:latin typeface="Calibri"/>
                <a:cs typeface="Calibri"/>
              </a:rPr>
              <a:t>Physical fixes (clean port, service visit) stay manual, with no deeplink</a:t>
            </a:r>
          </a:p>
          <a:p>
            <a:pPr algn="l" marL="228600" indent="-228600">
              <a:spcAft>
                <a:spcPts val="700"/>
              </a:spcAft>
              <a:buFont typeface="Arial"/>
              <a:buChar char="•"/>
            </a:pPr>
            <a:r>
              <a:rPr lang="en-US" sz="1400" dirty="0">
                <a:solidFill>
                  <a:srgbClr val="14142B"/>
                </a:solidFill>
                <a:latin typeface="Calibri"/>
                <a:cs typeface="Calibri"/>
              </a:rPr>
              <a:t>English-first; multilingual input is on the roadmap</a:t>
            </a:r>
          </a:p>
          <a:p>
            <a:pPr algn="l" marL="228600" indent="-228600">
              <a:spcAft>
                <a:spcPts val="700"/>
              </a:spcAft>
              <a:buFont typeface="Arial"/>
              <a:buChar char="•"/>
            </a:pPr>
            <a:r>
              <a:rPr lang="en-US" sz="1400" dirty="0">
                <a:solidFill>
                  <a:srgbClr val="14142B"/>
                </a:solidFill>
                <a:latin typeface="Calibri"/>
                <a:cs typeface="Calibri"/>
              </a:rPr>
              <a:t>Cold-path speed depends on the LLM provider</a:t>
            </a:r>
          </a:p>
          <a:p>
            <a:pPr algn="l" marL="228600" indent="-228600">
              <a:spcAft>
                <a:spcPts val="700"/>
              </a:spcAft>
              <a:buFont typeface="Arial"/>
              <a:buChar char="•"/>
            </a:pPr>
            <a:r>
              <a:rPr lang="en-US" sz="1400" dirty="0">
                <a:solidFill>
                  <a:srgbClr val="14142B"/>
                </a:solidFill>
                <a:latin typeface="Calibri"/>
                <a:cs typeface="Calibri"/>
              </a:rPr>
              <a:t>One primary intent per query</a:t>
            </a:r>
          </a:p>
        </p:txBody>
      </p:sp>
    </p:spTree>
    <p:extLst>
      <p:ext uri="{BB962C8B-B14F-4D97-AF65-F5344CB8AC3E}">
        <p14:creationId xmlns:p14="http://schemas.microsoft.com/office/powerpoint/2010/main" val="1993237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What’s next</a:t>
            </a:r>
            <a:endParaRPr lang="en-US" sz="4400" b="1" dirty="0">
              <a:solidFill>
                <a:srgbClr val="704EA6"/>
              </a:solidFill>
            </a:endParaRPr>
          </a:p>
        </p:txBody>
      </p:sp>
      <p:sp>
        <p:nvSpPr>
          <p:cNvPr id="171" name="Next card 1"/>
          <p:cNvSpPr/>
          <p:nvPr/>
        </p:nvSpPr>
        <p:spPr>
          <a:xfrm>
            <a:off x="822960" y="1600200"/>
            <a:ext cx="2331720" cy="3108960"/>
          </a:xfrm>
          <a:prstGeom prst="roundRect">
            <a:avLst>
              <a:gd name="adj" fmla="val 6000"/>
            </a:avLst>
          </a:prstGeom>
          <a:solidFill>
            <a:srgbClr val="F3EEFC"/>
          </a:solidFill>
          <a:ln w="12700">
            <a:solidFill>
              <a:srgbClr val="D9D3F0"/>
            </a:solidFill>
          </a:ln>
        </p:spPr>
        <p:txBody>
          <a:bodyPr rtlCol="0" anchor="ctr"/>
          <a:lstStyle/>
          <a:p>
            <a:endParaRPr lang="en-US"/>
          </a:p>
        </p:txBody>
      </p:sp>
      <p:sp>
        <p:nvSpPr>
          <p:cNvPr id="172" name="Next badge 1"/>
          <p:cNvSpPr/>
          <p:nvPr/>
        </p:nvSpPr>
        <p:spPr>
          <a:xfrm>
            <a:off x="1024128" y="1783080"/>
            <a:ext cx="457200" cy="457200"/>
          </a:xfrm>
          <a:prstGeom prst="ellipse">
            <a:avLst/>
          </a:prstGeom>
          <a:solidFill>
            <a:srgbClr val="6D28D9"/>
          </a:solidFill>
          <a:ln>
            <a:noFill/>
          </a:ln>
        </p:spPr>
        <p:txBody>
          <a:bodyPr wrap="square" lIns="0" tIns="0" rIns="0" bIns="0" rtlCol="0" anchor="ctr">
            <a:noAutofit/>
          </a:bodyPr>
          <a:lstStyle/>
          <a:p>
            <a:pPr algn="ctr" marL="0" indent="0">
              <a:spcAft>
                <a:spcPts val="0"/>
              </a:spcAft>
              <a:buNone/>
            </a:pPr>
            <a:r>
              <a:rPr lang="en-US" sz="1800" b="1" dirty="0">
                <a:solidFill>
                  <a:srgbClr val="FFFFFF"/>
                </a:solidFill>
                <a:latin typeface="Calibri"/>
                <a:cs typeface="Calibri"/>
              </a:rPr>
              <a:t>1</a:t>
            </a:r>
          </a:p>
        </p:txBody>
      </p:sp>
      <p:sp>
        <p:nvSpPr>
          <p:cNvPr id="173" name="Next title 1"/>
          <p:cNvSpPr txBox="1"/>
          <p:nvPr/>
        </p:nvSpPr>
        <p:spPr>
          <a:xfrm>
            <a:off x="1024128" y="2377440"/>
            <a:ext cx="1929384" cy="411480"/>
          </a:xfrm>
          <a:prstGeom prst="rect">
            <a:avLst/>
          </a:prstGeom>
          <a:noFill/>
          <a:ln>
            <a:noFill/>
          </a:ln>
        </p:spPr>
        <p:txBody>
          <a:bodyPr wrap="square" lIns="0" tIns="0" rIns="0" bIns="0" rtlCol="0" anchor="ctr">
            <a:noAutofit/>
          </a:bodyPr>
          <a:lstStyle/>
          <a:p>
            <a:pPr algn="l" marL="0" indent="0">
              <a:spcAft>
                <a:spcPts val="0"/>
              </a:spcAft>
              <a:buNone/>
            </a:pPr>
            <a:r>
              <a:rPr lang="en-US" sz="1700" b="1" dirty="0">
                <a:solidFill>
                  <a:srgbClr val="14142B"/>
                </a:solidFill>
                <a:latin typeface="Calibri"/>
                <a:cs typeface="Calibri"/>
              </a:rPr>
              <a:t>Ask when unsure</a:t>
            </a:r>
          </a:p>
        </p:txBody>
      </p:sp>
      <p:sp>
        <p:nvSpPr>
          <p:cNvPr id="174" name="Next text 1"/>
          <p:cNvSpPr txBox="1"/>
          <p:nvPr/>
        </p:nvSpPr>
        <p:spPr>
          <a:xfrm>
            <a:off x="1024128" y="2852928"/>
            <a:ext cx="1929384" cy="1783080"/>
          </a:xfrm>
          <a:prstGeom prst="rect">
            <a:avLst/>
          </a:prstGeom>
          <a:noFill/>
          <a:ln>
            <a:noFill/>
          </a:ln>
        </p:spPr>
        <p:txBody>
          <a:bodyPr wrap="square" lIns="0" tIns="0" rIns="0" bIns="0" rtlCol="0" anchor="t">
            <a:noAutofit/>
          </a:bodyPr>
          <a:lstStyle/>
          <a:p>
            <a:pPr algn="l" marL="0" indent="0">
              <a:spcAft>
                <a:spcPts val="0"/>
              </a:spcAft>
              <a:buNone/>
            </a:pPr>
            <a:r>
              <a:rPr lang="en-US" sz="1400" dirty="0">
                <a:solidFill>
                  <a:srgbClr val="63637E"/>
                </a:solidFill>
                <a:latin typeface="Calibri"/>
                <a:cs typeface="Calibri"/>
              </a:rPr>
              <a:t>Ambiguous query? Show one tap-to-answer question (Battery or Display?) before building the plan.</a:t>
            </a:r>
          </a:p>
        </p:txBody>
      </p:sp>
      <p:cxnSp>
        <p:nvCxnSpPr>
          <p:cNvPr id="175" name="Next arrow 1"/>
          <p:cNvCxnSpPr/>
          <p:nvPr/>
        </p:nvCxnSpPr>
        <p:spPr>
          <a:xfrm>
            <a:off x="3191256" y="3154680"/>
            <a:ext cx="323088" cy="0"/>
          </a:xfrm>
          <a:prstGeom prst="line">
            <a:avLst/>
          </a:prstGeom>
          <a:ln w="31750">
            <a:solidFill>
              <a:srgbClr val="6D28D9"/>
            </a:solidFill>
            <a:tailEnd type="triangle"/>
          </a:ln>
        </p:spPr>
      </p:cxnSp>
      <p:sp>
        <p:nvSpPr>
          <p:cNvPr id="176" name="Next card 2"/>
          <p:cNvSpPr/>
          <p:nvPr/>
        </p:nvSpPr>
        <p:spPr>
          <a:xfrm>
            <a:off x="3550920" y="1600200"/>
            <a:ext cx="2331720" cy="3108960"/>
          </a:xfrm>
          <a:prstGeom prst="roundRect">
            <a:avLst>
              <a:gd name="adj" fmla="val 6000"/>
            </a:avLst>
          </a:prstGeom>
          <a:solidFill>
            <a:srgbClr val="F3EEFC"/>
          </a:solidFill>
          <a:ln w="12700">
            <a:solidFill>
              <a:srgbClr val="D9D3F0"/>
            </a:solidFill>
          </a:ln>
        </p:spPr>
        <p:txBody>
          <a:bodyPr rtlCol="0" anchor="ctr"/>
          <a:lstStyle/>
          <a:p>
            <a:endParaRPr lang="en-US"/>
          </a:p>
        </p:txBody>
      </p:sp>
      <p:sp>
        <p:nvSpPr>
          <p:cNvPr id="177" name="Next badge 2"/>
          <p:cNvSpPr/>
          <p:nvPr/>
        </p:nvSpPr>
        <p:spPr>
          <a:xfrm>
            <a:off x="3752088" y="1783080"/>
            <a:ext cx="457200" cy="457200"/>
          </a:xfrm>
          <a:prstGeom prst="ellipse">
            <a:avLst/>
          </a:prstGeom>
          <a:solidFill>
            <a:srgbClr val="6D28D9"/>
          </a:solidFill>
          <a:ln>
            <a:noFill/>
          </a:ln>
        </p:spPr>
        <p:txBody>
          <a:bodyPr wrap="square" lIns="0" tIns="0" rIns="0" bIns="0" rtlCol="0" anchor="ctr">
            <a:noAutofit/>
          </a:bodyPr>
          <a:lstStyle/>
          <a:p>
            <a:pPr algn="ctr" marL="0" indent="0">
              <a:spcAft>
                <a:spcPts val="0"/>
              </a:spcAft>
              <a:buNone/>
            </a:pPr>
            <a:r>
              <a:rPr lang="en-US" sz="1800" b="1" dirty="0">
                <a:solidFill>
                  <a:srgbClr val="FFFFFF"/>
                </a:solidFill>
                <a:latin typeface="Calibri"/>
                <a:cs typeface="Calibri"/>
              </a:rPr>
              <a:t>2</a:t>
            </a:r>
          </a:p>
        </p:txBody>
      </p:sp>
      <p:sp>
        <p:nvSpPr>
          <p:cNvPr id="178" name="Next title 2"/>
          <p:cNvSpPr txBox="1"/>
          <p:nvPr/>
        </p:nvSpPr>
        <p:spPr>
          <a:xfrm>
            <a:off x="3752088" y="2377440"/>
            <a:ext cx="1929384" cy="411480"/>
          </a:xfrm>
          <a:prstGeom prst="rect">
            <a:avLst/>
          </a:prstGeom>
          <a:noFill/>
          <a:ln>
            <a:noFill/>
          </a:ln>
        </p:spPr>
        <p:txBody>
          <a:bodyPr wrap="square" lIns="0" tIns="0" rIns="0" bIns="0" rtlCol="0" anchor="ctr">
            <a:noAutofit/>
          </a:bodyPr>
          <a:lstStyle/>
          <a:p>
            <a:pPr algn="l" marL="0" indent="0">
              <a:spcAft>
                <a:spcPts val="0"/>
              </a:spcAft>
              <a:buNone/>
            </a:pPr>
            <a:r>
              <a:rPr lang="en-US" sz="1700" b="1" dirty="0">
                <a:solidFill>
                  <a:srgbClr val="14142B"/>
                </a:solidFill>
                <a:latin typeface="Calibri"/>
                <a:cs typeface="Calibri"/>
              </a:rPr>
              <a:t>Speak your language</a:t>
            </a:r>
          </a:p>
        </p:txBody>
      </p:sp>
      <p:sp>
        <p:nvSpPr>
          <p:cNvPr id="179" name="Next text 2"/>
          <p:cNvSpPr txBox="1"/>
          <p:nvPr/>
        </p:nvSpPr>
        <p:spPr>
          <a:xfrm>
            <a:off x="3752088" y="2852928"/>
            <a:ext cx="1929384" cy="1783080"/>
          </a:xfrm>
          <a:prstGeom prst="rect">
            <a:avLst/>
          </a:prstGeom>
          <a:noFill/>
          <a:ln>
            <a:noFill/>
          </a:ln>
        </p:spPr>
        <p:txBody>
          <a:bodyPr wrap="square" lIns="0" tIns="0" rIns="0" bIns="0" rtlCol="0" anchor="t">
            <a:noAutofit/>
          </a:bodyPr>
          <a:lstStyle/>
          <a:p>
            <a:pPr algn="l" marL="0" indent="0">
              <a:spcAft>
                <a:spcPts val="0"/>
              </a:spcAft>
              <a:buNone/>
            </a:pPr>
            <a:r>
              <a:rPr lang="en-US" sz="1400" dirty="0">
                <a:solidFill>
                  <a:srgbClr val="63637E"/>
                </a:solidFill>
                <a:latin typeface="Calibri"/>
                <a:cs typeface="Calibri"/>
              </a:rPr>
              <a:t>Multilingual embeddings so Hindi, Tamil and other regional queries hit the same cache.</a:t>
            </a:r>
          </a:p>
        </p:txBody>
      </p:sp>
      <p:cxnSp>
        <p:nvCxnSpPr>
          <p:cNvPr id="180" name="Next arrow 2"/>
          <p:cNvCxnSpPr/>
          <p:nvPr/>
        </p:nvCxnSpPr>
        <p:spPr>
          <a:xfrm>
            <a:off x="5919216" y="3154680"/>
            <a:ext cx="323088" cy="0"/>
          </a:xfrm>
          <a:prstGeom prst="line">
            <a:avLst/>
          </a:prstGeom>
          <a:ln w="31750">
            <a:solidFill>
              <a:srgbClr val="6D28D9"/>
            </a:solidFill>
            <a:tailEnd type="triangle"/>
          </a:ln>
        </p:spPr>
      </p:cxnSp>
      <p:sp>
        <p:nvSpPr>
          <p:cNvPr id="181" name="Next card 3"/>
          <p:cNvSpPr/>
          <p:nvPr/>
        </p:nvSpPr>
        <p:spPr>
          <a:xfrm>
            <a:off x="6278880" y="1600200"/>
            <a:ext cx="2331720" cy="3108960"/>
          </a:xfrm>
          <a:prstGeom prst="roundRect">
            <a:avLst>
              <a:gd name="adj" fmla="val 6000"/>
            </a:avLst>
          </a:prstGeom>
          <a:solidFill>
            <a:srgbClr val="F3EEFC"/>
          </a:solidFill>
          <a:ln w="12700">
            <a:solidFill>
              <a:srgbClr val="D9D3F0"/>
            </a:solidFill>
          </a:ln>
        </p:spPr>
        <p:txBody>
          <a:bodyPr rtlCol="0" anchor="ctr"/>
          <a:lstStyle/>
          <a:p>
            <a:endParaRPr lang="en-US"/>
          </a:p>
        </p:txBody>
      </p:sp>
      <p:sp>
        <p:nvSpPr>
          <p:cNvPr id="182" name="Next badge 3"/>
          <p:cNvSpPr/>
          <p:nvPr/>
        </p:nvSpPr>
        <p:spPr>
          <a:xfrm>
            <a:off x="6480048" y="1783080"/>
            <a:ext cx="457200" cy="457200"/>
          </a:xfrm>
          <a:prstGeom prst="ellipse">
            <a:avLst/>
          </a:prstGeom>
          <a:solidFill>
            <a:srgbClr val="6D28D9"/>
          </a:solidFill>
          <a:ln>
            <a:noFill/>
          </a:ln>
        </p:spPr>
        <p:txBody>
          <a:bodyPr wrap="square" lIns="0" tIns="0" rIns="0" bIns="0" rtlCol="0" anchor="ctr">
            <a:noAutofit/>
          </a:bodyPr>
          <a:lstStyle/>
          <a:p>
            <a:pPr algn="ctr" marL="0" indent="0">
              <a:spcAft>
                <a:spcPts val="0"/>
              </a:spcAft>
              <a:buNone/>
            </a:pPr>
            <a:r>
              <a:rPr lang="en-US" sz="1800" b="1" dirty="0">
                <a:solidFill>
                  <a:srgbClr val="FFFFFF"/>
                </a:solidFill>
                <a:latin typeface="Calibri"/>
                <a:cs typeface="Calibri"/>
              </a:rPr>
              <a:t>3</a:t>
            </a:r>
          </a:p>
        </p:txBody>
      </p:sp>
      <p:sp>
        <p:nvSpPr>
          <p:cNvPr id="183" name="Next title 3"/>
          <p:cNvSpPr txBox="1"/>
          <p:nvPr/>
        </p:nvSpPr>
        <p:spPr>
          <a:xfrm>
            <a:off x="6480048" y="2377440"/>
            <a:ext cx="1929384" cy="411480"/>
          </a:xfrm>
          <a:prstGeom prst="rect">
            <a:avLst/>
          </a:prstGeom>
          <a:noFill/>
          <a:ln>
            <a:noFill/>
          </a:ln>
        </p:spPr>
        <p:txBody>
          <a:bodyPr wrap="square" lIns="0" tIns="0" rIns="0" bIns="0" rtlCol="0" anchor="ctr">
            <a:noAutofit/>
          </a:bodyPr>
          <a:lstStyle/>
          <a:p>
            <a:pPr algn="l" marL="0" indent="0">
              <a:spcAft>
                <a:spcPts val="0"/>
              </a:spcAft>
              <a:buNone/>
            </a:pPr>
            <a:r>
              <a:rPr lang="en-US" sz="1700" b="1" dirty="0">
                <a:solidFill>
                  <a:srgbClr val="14142B"/>
                </a:solidFill>
                <a:latin typeface="Calibri"/>
                <a:cs typeface="Calibri"/>
              </a:rPr>
              <a:t>Close the loop</a:t>
            </a:r>
          </a:p>
        </p:txBody>
      </p:sp>
      <p:sp>
        <p:nvSpPr>
          <p:cNvPr id="184" name="Next text 3"/>
          <p:cNvSpPr txBox="1"/>
          <p:nvPr/>
        </p:nvSpPr>
        <p:spPr>
          <a:xfrm>
            <a:off x="6480048" y="2852928"/>
            <a:ext cx="1929384" cy="1783080"/>
          </a:xfrm>
          <a:prstGeom prst="rect">
            <a:avLst/>
          </a:prstGeom>
          <a:noFill/>
          <a:ln>
            <a:noFill/>
          </a:ln>
        </p:spPr>
        <p:txBody>
          <a:bodyPr wrap="square" lIns="0" tIns="0" rIns="0" bIns="0" rtlCol="0" anchor="t">
            <a:noAutofit/>
          </a:bodyPr>
          <a:lstStyle/>
          <a:p>
            <a:pPr algn="l" marL="0" indent="0">
              <a:spcAft>
                <a:spcPts val="0"/>
              </a:spcAft>
              <a:buNone/>
            </a:pPr>
            <a:r>
              <a:rPr lang="en-US" sz="1400" dirty="0">
                <a:solidFill>
                  <a:srgbClr val="63637E"/>
                </a:solidFill>
                <a:latin typeface="Calibri"/>
                <a:cs typeface="Calibri"/>
              </a:rPr>
              <a:t>Use validationDeeplink to confirm the setting changed, then learn which plans really fix issues.</a:t>
            </a:r>
          </a:p>
        </p:txBody>
      </p:sp>
      <p:cxnSp>
        <p:nvCxnSpPr>
          <p:cNvPr id="185" name="Next arrow 3"/>
          <p:cNvCxnSpPr/>
          <p:nvPr/>
        </p:nvCxnSpPr>
        <p:spPr>
          <a:xfrm>
            <a:off x="8647176" y="3154680"/>
            <a:ext cx="323088" cy="0"/>
          </a:xfrm>
          <a:prstGeom prst="line">
            <a:avLst/>
          </a:prstGeom>
          <a:ln w="31750">
            <a:solidFill>
              <a:srgbClr val="6D28D9"/>
            </a:solidFill>
            <a:tailEnd type="triangle"/>
          </a:ln>
        </p:spPr>
      </p:cxnSp>
      <p:sp>
        <p:nvSpPr>
          <p:cNvPr id="186" name="Next card 4"/>
          <p:cNvSpPr/>
          <p:nvPr/>
        </p:nvSpPr>
        <p:spPr>
          <a:xfrm>
            <a:off x="9006840" y="1600200"/>
            <a:ext cx="2331720" cy="3108960"/>
          </a:xfrm>
          <a:prstGeom prst="roundRect">
            <a:avLst>
              <a:gd name="adj" fmla="val 6000"/>
            </a:avLst>
          </a:prstGeom>
          <a:solidFill>
            <a:srgbClr val="F3EEFC"/>
          </a:solidFill>
          <a:ln w="12700">
            <a:solidFill>
              <a:srgbClr val="D9D3F0"/>
            </a:solidFill>
          </a:ln>
        </p:spPr>
        <p:txBody>
          <a:bodyPr rtlCol="0" anchor="ctr"/>
          <a:lstStyle/>
          <a:p>
            <a:endParaRPr lang="en-US"/>
          </a:p>
        </p:txBody>
      </p:sp>
      <p:sp>
        <p:nvSpPr>
          <p:cNvPr id="187" name="Next badge 4"/>
          <p:cNvSpPr/>
          <p:nvPr/>
        </p:nvSpPr>
        <p:spPr>
          <a:xfrm>
            <a:off x="9208008" y="1783080"/>
            <a:ext cx="457200" cy="457200"/>
          </a:xfrm>
          <a:prstGeom prst="ellipse">
            <a:avLst/>
          </a:prstGeom>
          <a:solidFill>
            <a:srgbClr val="6D28D9"/>
          </a:solidFill>
          <a:ln>
            <a:noFill/>
          </a:ln>
        </p:spPr>
        <p:txBody>
          <a:bodyPr wrap="square" lIns="0" tIns="0" rIns="0" bIns="0" rtlCol="0" anchor="ctr">
            <a:noAutofit/>
          </a:bodyPr>
          <a:lstStyle/>
          <a:p>
            <a:pPr algn="ctr" marL="0" indent="0">
              <a:spcAft>
                <a:spcPts val="0"/>
              </a:spcAft>
              <a:buNone/>
            </a:pPr>
            <a:r>
              <a:rPr lang="en-US" sz="1800" b="1" dirty="0">
                <a:solidFill>
                  <a:srgbClr val="FFFFFF"/>
                </a:solidFill>
                <a:latin typeface="Calibri"/>
                <a:cs typeface="Calibri"/>
              </a:rPr>
              <a:t>4</a:t>
            </a:r>
          </a:p>
        </p:txBody>
      </p:sp>
      <p:sp>
        <p:nvSpPr>
          <p:cNvPr id="188" name="Next title 4"/>
          <p:cNvSpPr txBox="1"/>
          <p:nvPr/>
        </p:nvSpPr>
        <p:spPr>
          <a:xfrm>
            <a:off x="9208008" y="2377440"/>
            <a:ext cx="1929384" cy="411480"/>
          </a:xfrm>
          <a:prstGeom prst="rect">
            <a:avLst/>
          </a:prstGeom>
          <a:noFill/>
          <a:ln>
            <a:noFill/>
          </a:ln>
        </p:spPr>
        <p:txBody>
          <a:bodyPr wrap="square" lIns="0" tIns="0" rIns="0" bIns="0" rtlCol="0" anchor="ctr">
            <a:noAutofit/>
          </a:bodyPr>
          <a:lstStyle/>
          <a:p>
            <a:pPr algn="l" marL="0" indent="0">
              <a:spcAft>
                <a:spcPts val="0"/>
              </a:spcAft>
              <a:buNone/>
            </a:pPr>
            <a:r>
              <a:rPr lang="en-US" sz="1700" b="1" dirty="0">
                <a:solidFill>
                  <a:srgbClr val="14142B"/>
                </a:solidFill>
                <a:latin typeface="Calibri"/>
                <a:cs typeface="Calibri"/>
              </a:rPr>
              <a:t>Smarter at the edge</a:t>
            </a:r>
          </a:p>
        </p:txBody>
      </p:sp>
      <p:sp>
        <p:nvSpPr>
          <p:cNvPr id="189" name="Next text 4"/>
          <p:cNvSpPr txBox="1"/>
          <p:nvPr/>
        </p:nvSpPr>
        <p:spPr>
          <a:xfrm>
            <a:off x="9208008" y="2852928"/>
            <a:ext cx="1929384" cy="1783080"/>
          </a:xfrm>
          <a:prstGeom prst="rect">
            <a:avLst/>
          </a:prstGeom>
          <a:noFill/>
          <a:ln>
            <a:noFill/>
          </a:ln>
        </p:spPr>
        <p:txBody>
          <a:bodyPr wrap="square" lIns="0" tIns="0" rIns="0" bIns="0" rtlCol="0" anchor="t">
            <a:noAutofit/>
          </a:bodyPr>
          <a:lstStyle/>
          <a:p>
            <a:pPr algn="l" marL="0" indent="0">
              <a:spcAft>
                <a:spcPts val="0"/>
              </a:spcAft>
              <a:buNone/>
            </a:pPr>
            <a:r>
              <a:rPr lang="en-US" sz="1400" dirty="0">
                <a:solidFill>
                  <a:srgbClr val="63637E"/>
                </a:solidFill>
                <a:latin typeface="Calibri"/>
                <a:cs typeface="Calibri"/>
              </a:rPr>
              <a:t>Ship the cache on-device and re-rank plans from thumbs-up and thumbs-down feedback.</a:t>
            </a:r>
          </a:p>
        </p:txBody>
      </p:sp>
      <p:sp>
        <p:nvSpPr>
          <p:cNvPr id="190" name="Scale label"/>
          <p:cNvSpPr txBox="1"/>
          <p:nvPr/>
        </p:nvSpPr>
        <p:spPr>
          <a:xfrm>
            <a:off x="822960" y="4937760"/>
            <a:ext cx="10515600" cy="274320"/>
          </a:xfrm>
          <a:prstGeom prst="rect">
            <a:avLst/>
          </a:prstGeom>
          <a:noFill/>
          <a:ln>
            <a:noFill/>
          </a:ln>
        </p:spPr>
        <p:txBody>
          <a:bodyPr wrap="square" lIns="0" tIns="0" rIns="0" bIns="0" rtlCol="0" anchor="t">
            <a:noAutofit/>
          </a:bodyPr>
          <a:lstStyle/>
          <a:p>
            <a:pPr algn="l" marL="0" indent="0">
              <a:spcAft>
                <a:spcPts val="0"/>
              </a:spcAft>
              <a:buNone/>
            </a:pPr>
            <a:r>
              <a:rPr lang="en-US" sz="1200" b="1" dirty="0">
                <a:solidFill>
                  <a:srgbClr val="6D28D9"/>
                </a:solidFill>
                <a:latin typeface="Calibri"/>
                <a:cs typeface="Calibri"/>
              </a:rPr>
              <a:t>THEN SCALE OUT</a:t>
            </a:r>
          </a:p>
        </p:txBody>
      </p:sp>
      <p:sp>
        <p:nvSpPr>
          <p:cNvPr id="191" name="Scale chip 1"/>
          <p:cNvSpPr/>
          <p:nvPr/>
        </p:nvSpPr>
        <p:spPr>
          <a:xfrm>
            <a:off x="822960" y="5285232"/>
            <a:ext cx="3337560" cy="822960"/>
          </a:xfrm>
          <a:prstGeom prst="roundRect">
            <a:avLst>
              <a:gd name="adj" fmla="val 15000"/>
            </a:avLst>
          </a:prstGeom>
          <a:solidFill>
            <a:srgbClr val="FFFFFF"/>
          </a:solidFill>
          <a:ln w="15875">
            <a:solidFill>
              <a:srgbClr val="6D28D9"/>
            </a:solidFill>
          </a:ln>
        </p:spPr>
        <p:txBody>
          <a:bodyPr wrap="square" lIns="137160" tIns="27432" rIns="137160" bIns="27432" rtlCol="0" anchor="ctr">
            <a:noAutofit/>
          </a:bodyPr>
          <a:lstStyle/>
          <a:p>
            <a:pPr algn="ctr" marL="0" indent="0">
              <a:spcAft>
                <a:spcPts val="0"/>
              </a:spcAft>
              <a:buNone/>
            </a:pPr>
            <a:r>
              <a:rPr lang="en-US" sz="1400" b="1" dirty="0">
                <a:solidFill>
                  <a:srgbClr val="14142B"/>
                </a:solidFill>
                <a:latin typeface="Calibri"/>
                <a:cs typeface="Calibri"/>
              </a:rPr>
              <a:t>More domains: connectivity, audio, security</a:t>
            </a:r>
          </a:p>
        </p:txBody>
      </p:sp>
      <p:sp>
        <p:nvSpPr>
          <p:cNvPr id="192" name="Scale chip 2"/>
          <p:cNvSpPr/>
          <p:nvPr/>
        </p:nvSpPr>
        <p:spPr>
          <a:xfrm>
            <a:off x="4411980" y="5285232"/>
            <a:ext cx="3337560" cy="822960"/>
          </a:xfrm>
          <a:prstGeom prst="roundRect">
            <a:avLst>
              <a:gd name="adj" fmla="val 15000"/>
            </a:avLst>
          </a:prstGeom>
          <a:solidFill>
            <a:srgbClr val="FFFFFF"/>
          </a:solidFill>
          <a:ln w="15875">
            <a:solidFill>
              <a:srgbClr val="6D28D9"/>
            </a:solidFill>
          </a:ln>
        </p:spPr>
        <p:txBody>
          <a:bodyPr wrap="square" lIns="137160" tIns="27432" rIns="137160" bIns="27432" rtlCol="0" anchor="ctr">
            <a:noAutofit/>
          </a:bodyPr>
          <a:lstStyle/>
          <a:p>
            <a:pPr algn="ctr" marL="0" indent="0">
              <a:spcAft>
                <a:spcPts val="0"/>
              </a:spcAft>
              <a:buNone/>
            </a:pPr>
            <a:r>
              <a:rPr lang="en-US" sz="1400" b="1" dirty="0">
                <a:solidFill>
                  <a:srgbClr val="14142B"/>
                </a:solidFill>
                <a:latin typeface="Calibri"/>
                <a:cs typeface="Calibri"/>
              </a:rPr>
              <a:t>Per-model deeplink catalogs</a:t>
            </a:r>
          </a:p>
        </p:txBody>
      </p:sp>
      <p:sp>
        <p:nvSpPr>
          <p:cNvPr id="193" name="Scale chip 3"/>
          <p:cNvSpPr/>
          <p:nvPr/>
        </p:nvSpPr>
        <p:spPr>
          <a:xfrm>
            <a:off x="8001000" y="5285232"/>
            <a:ext cx="3337560" cy="822960"/>
          </a:xfrm>
          <a:prstGeom prst="roundRect">
            <a:avLst>
              <a:gd name="adj" fmla="val 15000"/>
            </a:avLst>
          </a:prstGeom>
          <a:solidFill>
            <a:srgbClr val="FFFFFF"/>
          </a:solidFill>
          <a:ln w="15875">
            <a:solidFill>
              <a:srgbClr val="6D28D9"/>
            </a:solidFill>
          </a:ln>
        </p:spPr>
        <p:txBody>
          <a:bodyPr wrap="square" lIns="137160" tIns="27432" rIns="137160" bIns="27432" rtlCol="0" anchor="ctr">
            <a:noAutofit/>
          </a:bodyPr>
          <a:lstStyle/>
          <a:p>
            <a:pPr algn="ctr" marL="0" indent="0">
              <a:spcAft>
                <a:spcPts val="0"/>
              </a:spcAft>
              <a:buNone/>
            </a:pPr>
            <a:r>
              <a:rPr lang="en-US" sz="1400" b="1" dirty="0">
                <a:solidFill>
                  <a:srgbClr val="14142B"/>
                </a:solidFill>
                <a:latin typeface="Calibri"/>
                <a:cs typeface="Calibri"/>
              </a:rPr>
              <a:t>Live catalog sync when Settings screens change</a:t>
            </a:r>
          </a:p>
        </p:txBody>
      </p:sp>
    </p:spTree>
    <p:extLst>
      <p:ext uri="{BB962C8B-B14F-4D97-AF65-F5344CB8AC3E}">
        <p14:creationId xmlns:p14="http://schemas.microsoft.com/office/powerpoint/2010/main" val="3985914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Brownie points slide( differentiation)</a:t>
            </a:r>
            <a:endParaRPr lang="en-US" sz="4400" b="1" dirty="0">
              <a:solidFill>
                <a:srgbClr val="704EA6"/>
              </a:solidFill>
            </a:endParaRPr>
          </a:p>
        </p:txBody>
      </p:sp>
      <p:sp>
        <p:nvSpPr>
          <p:cNvPr id="194" name="Differentiator card 1"/>
          <p:cNvSpPr/>
          <p:nvPr/>
        </p:nvSpPr>
        <p:spPr>
          <a:xfrm>
            <a:off x="822960" y="1554480"/>
            <a:ext cx="5120640" cy="1389888"/>
          </a:xfrm>
          <a:prstGeom prst="roundRect">
            <a:avLst>
              <a:gd name="adj" fmla="val 8000"/>
            </a:avLst>
          </a:prstGeom>
          <a:solidFill>
            <a:srgbClr val="F3EEFC"/>
          </a:solidFill>
          <a:ln w="12700">
            <a:solidFill>
              <a:srgbClr val="D9D3F0"/>
            </a:solidFill>
          </a:ln>
        </p:spPr>
        <p:txBody>
          <a:bodyPr rtlCol="0" anchor="ctr"/>
          <a:lstStyle/>
          <a:p>
            <a:endParaRPr lang="en-US"/>
          </a:p>
        </p:txBody>
      </p:sp>
      <p:sp>
        <p:nvSpPr>
          <p:cNvPr id="195" name="Differentiator badge 1"/>
          <p:cNvSpPr/>
          <p:nvPr/>
        </p:nvSpPr>
        <p:spPr>
          <a:xfrm>
            <a:off x="1024128" y="1975104"/>
            <a:ext cx="548640" cy="548640"/>
          </a:xfrm>
          <a:prstGeom prst="ellipse">
            <a:avLst/>
          </a:prstGeom>
          <a:solidFill>
            <a:srgbClr val="6D28D9"/>
          </a:solidFill>
          <a:ln>
            <a:noFill/>
          </a:ln>
        </p:spPr>
        <p:txBody>
          <a:bodyPr wrap="square" lIns="0" tIns="0" rIns="0" bIns="0" rtlCol="0" anchor="ctr">
            <a:noAutofit/>
          </a:bodyPr>
          <a:lstStyle/>
          <a:p>
            <a:pPr algn="ctr" marL="0" indent="0">
              <a:spcAft>
                <a:spcPts val="0"/>
              </a:spcAft>
              <a:buNone/>
            </a:pPr>
            <a:r>
              <a:rPr lang="en-US" sz="2000" b="1" dirty="0">
                <a:solidFill>
                  <a:srgbClr val="FFFFFF"/>
                </a:solidFill>
                <a:latin typeface="Calibri"/>
                <a:cs typeface="Calibri"/>
              </a:rPr>
              <a:t>1</a:t>
            </a:r>
          </a:p>
        </p:txBody>
      </p:sp>
      <p:sp>
        <p:nvSpPr>
          <p:cNvPr id="196" name="Differentiator title 1"/>
          <p:cNvSpPr txBox="1"/>
          <p:nvPr/>
        </p:nvSpPr>
        <p:spPr>
          <a:xfrm>
            <a:off x="1783080" y="1682496"/>
            <a:ext cx="3977640" cy="411480"/>
          </a:xfrm>
          <a:prstGeom prst="rect">
            <a:avLst/>
          </a:prstGeom>
          <a:noFill/>
          <a:ln>
            <a:noFill/>
          </a:ln>
        </p:spPr>
        <p:txBody>
          <a:bodyPr wrap="square" lIns="0" tIns="0" rIns="0" bIns="0" rtlCol="0" anchor="ctr">
            <a:noAutofit/>
          </a:bodyPr>
          <a:lstStyle/>
          <a:p>
            <a:pPr algn="l" marL="0" indent="0">
              <a:spcAft>
                <a:spcPts val="0"/>
              </a:spcAft>
              <a:buNone/>
            </a:pPr>
            <a:r>
              <a:rPr lang="en-US" sz="1600" b="1" dirty="0">
                <a:solidFill>
                  <a:srgbClr val="14142B"/>
                </a:solidFill>
                <a:latin typeface="Calibri"/>
                <a:cs typeface="Calibri"/>
              </a:rPr>
              <a:t>Code enforces, prompts only suggest</a:t>
            </a:r>
          </a:p>
        </p:txBody>
      </p:sp>
      <p:sp>
        <p:nvSpPr>
          <p:cNvPr id="197" name="Differentiator text 1"/>
          <p:cNvSpPr txBox="1"/>
          <p:nvPr/>
        </p:nvSpPr>
        <p:spPr>
          <a:xfrm>
            <a:off x="1783080" y="2121408"/>
            <a:ext cx="3977640" cy="749808"/>
          </a:xfrm>
          <a:prstGeom prst="rect">
            <a:avLst/>
          </a:prstGeom>
          <a:noFill/>
          <a:ln>
            <a:noFill/>
          </a:ln>
        </p:spPr>
        <p:txBody>
          <a:bodyPr wrap="square" lIns="0" tIns="0" rIns="0" bIns="0" rtlCol="0" anchor="t">
            <a:noAutofit/>
          </a:bodyPr>
          <a:lstStyle/>
          <a:p>
            <a:pPr algn="l" marL="0" indent="0">
              <a:spcAft>
                <a:spcPts val="0"/>
              </a:spcAft>
              <a:buNone/>
            </a:pPr>
            <a:r>
              <a:rPr lang="en-US" sz="1400" dirty="0">
                <a:solidFill>
                  <a:srgbClr val="63637E"/>
                </a:solidFill>
                <a:latin typeface="Calibri"/>
                <a:cs typeface="Calibri"/>
              </a:rPr>
              <a:t>Every hard rule (words, URLs, categories) is checked and repaired by validators.</a:t>
            </a:r>
          </a:p>
        </p:txBody>
      </p:sp>
      <p:sp>
        <p:nvSpPr>
          <p:cNvPr id="198" name="Differentiator card 2"/>
          <p:cNvSpPr/>
          <p:nvPr/>
        </p:nvSpPr>
        <p:spPr>
          <a:xfrm>
            <a:off x="6217920" y="1554480"/>
            <a:ext cx="5120640" cy="1389888"/>
          </a:xfrm>
          <a:prstGeom prst="roundRect">
            <a:avLst>
              <a:gd name="adj" fmla="val 8000"/>
            </a:avLst>
          </a:prstGeom>
          <a:solidFill>
            <a:srgbClr val="F3EEFC"/>
          </a:solidFill>
          <a:ln w="12700">
            <a:solidFill>
              <a:srgbClr val="D9D3F0"/>
            </a:solidFill>
          </a:ln>
        </p:spPr>
        <p:txBody>
          <a:bodyPr rtlCol="0" anchor="ctr"/>
          <a:lstStyle/>
          <a:p>
            <a:endParaRPr lang="en-US"/>
          </a:p>
        </p:txBody>
      </p:sp>
      <p:sp>
        <p:nvSpPr>
          <p:cNvPr id="199" name="Differentiator badge 2"/>
          <p:cNvSpPr/>
          <p:nvPr/>
        </p:nvSpPr>
        <p:spPr>
          <a:xfrm>
            <a:off x="6419088" y="1975104"/>
            <a:ext cx="548640" cy="548640"/>
          </a:xfrm>
          <a:prstGeom prst="ellipse">
            <a:avLst/>
          </a:prstGeom>
          <a:solidFill>
            <a:srgbClr val="6D28D9"/>
          </a:solidFill>
          <a:ln>
            <a:noFill/>
          </a:ln>
        </p:spPr>
        <p:txBody>
          <a:bodyPr wrap="square" lIns="0" tIns="0" rIns="0" bIns="0" rtlCol="0" anchor="ctr">
            <a:noAutofit/>
          </a:bodyPr>
          <a:lstStyle/>
          <a:p>
            <a:pPr algn="ctr" marL="0" indent="0">
              <a:spcAft>
                <a:spcPts val="0"/>
              </a:spcAft>
              <a:buNone/>
            </a:pPr>
            <a:r>
              <a:rPr lang="en-US" sz="2000" b="1" dirty="0">
                <a:solidFill>
                  <a:srgbClr val="FFFFFF"/>
                </a:solidFill>
                <a:latin typeface="Calibri"/>
                <a:cs typeface="Calibri"/>
              </a:rPr>
              <a:t>2</a:t>
            </a:r>
          </a:p>
        </p:txBody>
      </p:sp>
      <p:sp>
        <p:nvSpPr>
          <p:cNvPr id="200" name="Differentiator title 2"/>
          <p:cNvSpPr txBox="1"/>
          <p:nvPr/>
        </p:nvSpPr>
        <p:spPr>
          <a:xfrm>
            <a:off x="7178040" y="1682496"/>
            <a:ext cx="3977640" cy="411480"/>
          </a:xfrm>
          <a:prstGeom prst="rect">
            <a:avLst/>
          </a:prstGeom>
          <a:noFill/>
          <a:ln>
            <a:noFill/>
          </a:ln>
        </p:spPr>
        <p:txBody>
          <a:bodyPr wrap="square" lIns="0" tIns="0" rIns="0" bIns="0" rtlCol="0" anchor="ctr">
            <a:noAutofit/>
          </a:bodyPr>
          <a:lstStyle/>
          <a:p>
            <a:pPr algn="l" marL="0" indent="0">
              <a:spcAft>
                <a:spcPts val="0"/>
              </a:spcAft>
              <a:buNone/>
            </a:pPr>
            <a:r>
              <a:rPr lang="en-US" sz="1600" b="1" dirty="0">
                <a:solidFill>
                  <a:srgbClr val="14142B"/>
                </a:solidFill>
                <a:latin typeface="Calibri"/>
                <a:cs typeface="Calibri"/>
              </a:rPr>
              <a:t>Hybrid retrieval, not URI guessing</a:t>
            </a:r>
          </a:p>
        </p:txBody>
      </p:sp>
      <p:sp>
        <p:nvSpPr>
          <p:cNvPr id="201" name="Differentiator text 2"/>
          <p:cNvSpPr txBox="1"/>
          <p:nvPr/>
        </p:nvSpPr>
        <p:spPr>
          <a:xfrm>
            <a:off x="7178040" y="2121408"/>
            <a:ext cx="3977640" cy="749808"/>
          </a:xfrm>
          <a:prstGeom prst="rect">
            <a:avLst/>
          </a:prstGeom>
          <a:noFill/>
          <a:ln>
            <a:noFill/>
          </a:ln>
        </p:spPr>
        <p:txBody>
          <a:bodyPr wrap="square" lIns="0" tIns="0" rIns="0" bIns="0" rtlCol="0" anchor="t">
            <a:noAutofit/>
          </a:bodyPr>
          <a:lstStyle/>
          <a:p>
            <a:pPr algn="l" marL="0" indent="0">
              <a:spcAft>
                <a:spcPts val="0"/>
              </a:spcAft>
              <a:buNone/>
            </a:pPr>
            <a:r>
              <a:rPr lang="en-US" sz="1400" dirty="0">
                <a:solidFill>
                  <a:srgbClr val="63637E"/>
                </a:solidFill>
                <a:latin typeface="Calibri"/>
                <a:cs typeface="Calibri"/>
              </a:rPr>
              <a:t>BM25 + dense search with rank fusion; the LLM never writes a URI.</a:t>
            </a:r>
          </a:p>
        </p:txBody>
      </p:sp>
      <p:sp>
        <p:nvSpPr>
          <p:cNvPr id="202" name="Differentiator card 3"/>
          <p:cNvSpPr/>
          <p:nvPr/>
        </p:nvSpPr>
        <p:spPr>
          <a:xfrm>
            <a:off x="822960" y="3127248"/>
            <a:ext cx="5120640" cy="1389888"/>
          </a:xfrm>
          <a:prstGeom prst="roundRect">
            <a:avLst>
              <a:gd name="adj" fmla="val 8000"/>
            </a:avLst>
          </a:prstGeom>
          <a:solidFill>
            <a:srgbClr val="F3EEFC"/>
          </a:solidFill>
          <a:ln w="12700">
            <a:solidFill>
              <a:srgbClr val="D9D3F0"/>
            </a:solidFill>
          </a:ln>
        </p:spPr>
        <p:txBody>
          <a:bodyPr rtlCol="0" anchor="ctr"/>
          <a:lstStyle/>
          <a:p>
            <a:endParaRPr lang="en-US"/>
          </a:p>
        </p:txBody>
      </p:sp>
      <p:sp>
        <p:nvSpPr>
          <p:cNvPr id="203" name="Differentiator badge 3"/>
          <p:cNvSpPr/>
          <p:nvPr/>
        </p:nvSpPr>
        <p:spPr>
          <a:xfrm>
            <a:off x="1024128" y="3547872"/>
            <a:ext cx="548640" cy="548640"/>
          </a:xfrm>
          <a:prstGeom prst="ellipse">
            <a:avLst/>
          </a:prstGeom>
          <a:solidFill>
            <a:srgbClr val="6D28D9"/>
          </a:solidFill>
          <a:ln>
            <a:noFill/>
          </a:ln>
        </p:spPr>
        <p:txBody>
          <a:bodyPr wrap="square" lIns="0" tIns="0" rIns="0" bIns="0" rtlCol="0" anchor="ctr">
            <a:noAutofit/>
          </a:bodyPr>
          <a:lstStyle/>
          <a:p>
            <a:pPr algn="ctr" marL="0" indent="0">
              <a:spcAft>
                <a:spcPts val="0"/>
              </a:spcAft>
              <a:buNone/>
            </a:pPr>
            <a:r>
              <a:rPr lang="en-US" sz="2000" b="1" dirty="0">
                <a:solidFill>
                  <a:srgbClr val="FFFFFF"/>
                </a:solidFill>
                <a:latin typeface="Calibri"/>
                <a:cs typeface="Calibri"/>
              </a:rPr>
              <a:t>3</a:t>
            </a:r>
          </a:p>
        </p:txBody>
      </p:sp>
      <p:sp>
        <p:nvSpPr>
          <p:cNvPr id="204" name="Differentiator title 3"/>
          <p:cNvSpPr txBox="1"/>
          <p:nvPr/>
        </p:nvSpPr>
        <p:spPr>
          <a:xfrm>
            <a:off x="1783080" y="3255264"/>
            <a:ext cx="3977640" cy="411480"/>
          </a:xfrm>
          <a:prstGeom prst="rect">
            <a:avLst/>
          </a:prstGeom>
          <a:noFill/>
          <a:ln>
            <a:noFill/>
          </a:ln>
        </p:spPr>
        <p:txBody>
          <a:bodyPr wrap="square" lIns="0" tIns="0" rIns="0" bIns="0" rtlCol="0" anchor="ctr">
            <a:noAutofit/>
          </a:bodyPr>
          <a:lstStyle/>
          <a:p>
            <a:pPr algn="l" marL="0" indent="0">
              <a:spcAft>
                <a:spcPts val="0"/>
              </a:spcAft>
              <a:buNone/>
            </a:pPr>
            <a:r>
              <a:rPr lang="en-US" sz="1600" b="1" dirty="0">
                <a:solidFill>
                  <a:srgbClr val="14142B"/>
                </a:solidFill>
                <a:latin typeface="Calibri"/>
                <a:cs typeface="Calibri"/>
              </a:rPr>
              <a:t>Cache-first, LLM-last</a:t>
            </a:r>
          </a:p>
        </p:txBody>
      </p:sp>
      <p:sp>
        <p:nvSpPr>
          <p:cNvPr id="205" name="Differentiator text 3"/>
          <p:cNvSpPr txBox="1"/>
          <p:nvPr/>
        </p:nvSpPr>
        <p:spPr>
          <a:xfrm>
            <a:off x="1783080" y="3694176"/>
            <a:ext cx="3977640" cy="749808"/>
          </a:xfrm>
          <a:prstGeom prst="rect">
            <a:avLst/>
          </a:prstGeom>
          <a:noFill/>
          <a:ln>
            <a:noFill/>
          </a:ln>
        </p:spPr>
        <p:txBody>
          <a:bodyPr wrap="square" lIns="0" tIns="0" rIns="0" bIns="0" rtlCol="0" anchor="t">
            <a:noAutofit/>
          </a:bodyPr>
          <a:lstStyle/>
          <a:p>
            <a:pPr algn="l" marL="0" indent="0">
              <a:spcAft>
                <a:spcPts val="0"/>
              </a:spcAft>
              <a:buNone/>
            </a:pPr>
            <a:r>
              <a:rPr lang="en-US" sz="1400" dirty="0">
                <a:solidFill>
                  <a:srgbClr val="63637E"/>
                </a:solidFill>
                <a:latin typeface="Calibri"/>
                <a:cs typeface="Calibri"/>
              </a:rPr>
              <a:t>Pre-warmed semantic cache serves paraphrases at $0 inference cost.</a:t>
            </a:r>
          </a:p>
        </p:txBody>
      </p:sp>
      <p:sp>
        <p:nvSpPr>
          <p:cNvPr id="206" name="Differentiator card 4"/>
          <p:cNvSpPr/>
          <p:nvPr/>
        </p:nvSpPr>
        <p:spPr>
          <a:xfrm>
            <a:off x="6217920" y="3127248"/>
            <a:ext cx="5120640" cy="1389888"/>
          </a:xfrm>
          <a:prstGeom prst="roundRect">
            <a:avLst>
              <a:gd name="adj" fmla="val 8000"/>
            </a:avLst>
          </a:prstGeom>
          <a:solidFill>
            <a:srgbClr val="F3EEFC"/>
          </a:solidFill>
          <a:ln w="12700">
            <a:solidFill>
              <a:srgbClr val="D9D3F0"/>
            </a:solidFill>
          </a:ln>
        </p:spPr>
        <p:txBody>
          <a:bodyPr rtlCol="0" anchor="ctr"/>
          <a:lstStyle/>
          <a:p>
            <a:endParaRPr lang="en-US"/>
          </a:p>
        </p:txBody>
      </p:sp>
      <p:sp>
        <p:nvSpPr>
          <p:cNvPr id="207" name="Differentiator badge 4"/>
          <p:cNvSpPr/>
          <p:nvPr/>
        </p:nvSpPr>
        <p:spPr>
          <a:xfrm>
            <a:off x="6419088" y="3547872"/>
            <a:ext cx="548640" cy="548640"/>
          </a:xfrm>
          <a:prstGeom prst="ellipse">
            <a:avLst/>
          </a:prstGeom>
          <a:solidFill>
            <a:srgbClr val="6D28D9"/>
          </a:solidFill>
          <a:ln>
            <a:noFill/>
          </a:ln>
        </p:spPr>
        <p:txBody>
          <a:bodyPr wrap="square" lIns="0" tIns="0" rIns="0" bIns="0" rtlCol="0" anchor="ctr">
            <a:noAutofit/>
          </a:bodyPr>
          <a:lstStyle/>
          <a:p>
            <a:pPr algn="ctr" marL="0" indent="0">
              <a:spcAft>
                <a:spcPts val="0"/>
              </a:spcAft>
              <a:buNone/>
            </a:pPr>
            <a:r>
              <a:rPr lang="en-US" sz="2000" b="1" dirty="0">
                <a:solidFill>
                  <a:srgbClr val="FFFFFF"/>
                </a:solidFill>
                <a:latin typeface="Calibri"/>
                <a:cs typeface="Calibri"/>
              </a:rPr>
              <a:t>4</a:t>
            </a:r>
          </a:p>
        </p:txBody>
      </p:sp>
      <p:sp>
        <p:nvSpPr>
          <p:cNvPr id="208" name="Differentiator title 4"/>
          <p:cNvSpPr txBox="1"/>
          <p:nvPr/>
        </p:nvSpPr>
        <p:spPr>
          <a:xfrm>
            <a:off x="7178040" y="3255264"/>
            <a:ext cx="3977640" cy="411480"/>
          </a:xfrm>
          <a:prstGeom prst="rect">
            <a:avLst/>
          </a:prstGeom>
          <a:noFill/>
          <a:ln>
            <a:noFill/>
          </a:ln>
        </p:spPr>
        <p:txBody>
          <a:bodyPr wrap="square" lIns="0" tIns="0" rIns="0" bIns="0" rtlCol="0" anchor="ctr">
            <a:noAutofit/>
          </a:bodyPr>
          <a:lstStyle/>
          <a:p>
            <a:pPr algn="l" marL="0" indent="0">
              <a:spcAft>
                <a:spcPts val="0"/>
              </a:spcAft>
              <a:buNone/>
            </a:pPr>
            <a:r>
              <a:rPr lang="en-US" sz="1600" b="1" dirty="0">
                <a:solidFill>
                  <a:srgbClr val="14142B"/>
                </a:solidFill>
                <a:latin typeface="Calibri"/>
                <a:cs typeface="Calibri"/>
              </a:rPr>
              <a:t>Honest by design</a:t>
            </a:r>
          </a:p>
        </p:txBody>
      </p:sp>
      <p:sp>
        <p:nvSpPr>
          <p:cNvPr id="209" name="Differentiator text 4"/>
          <p:cNvSpPr txBox="1"/>
          <p:nvPr/>
        </p:nvSpPr>
        <p:spPr>
          <a:xfrm>
            <a:off x="7178040" y="3694176"/>
            <a:ext cx="3977640" cy="749808"/>
          </a:xfrm>
          <a:prstGeom prst="rect">
            <a:avLst/>
          </a:prstGeom>
          <a:noFill/>
          <a:ln>
            <a:noFill/>
          </a:ln>
        </p:spPr>
        <p:txBody>
          <a:bodyPr wrap="square" lIns="0" tIns="0" rIns="0" bIns="0" rtlCol="0" anchor="t">
            <a:noAutofit/>
          </a:bodyPr>
          <a:lstStyle/>
          <a:p>
            <a:pPr algn="l" marL="0" indent="0">
              <a:spcAft>
                <a:spcPts val="0"/>
              </a:spcAft>
              <a:buNone/>
            </a:pPr>
            <a:r>
              <a:rPr lang="en-US" sz="1400" dirty="0">
                <a:solidFill>
                  <a:srgbClr val="63637E"/>
                </a:solidFill>
                <a:latin typeface="Calibri"/>
                <a:cs typeface="Calibri"/>
              </a:rPr>
              <a:t>Retrieval-based confidence score and a no_match fallback instead of guessing.</a:t>
            </a:r>
          </a:p>
        </p:txBody>
      </p:sp>
      <p:sp>
        <p:nvSpPr>
          <p:cNvPr id="210" name="Differentiator card 5"/>
          <p:cNvSpPr/>
          <p:nvPr/>
        </p:nvSpPr>
        <p:spPr>
          <a:xfrm>
            <a:off x="822960" y="4700016"/>
            <a:ext cx="5120640" cy="1389888"/>
          </a:xfrm>
          <a:prstGeom prst="roundRect">
            <a:avLst>
              <a:gd name="adj" fmla="val 8000"/>
            </a:avLst>
          </a:prstGeom>
          <a:solidFill>
            <a:srgbClr val="F3EEFC"/>
          </a:solidFill>
          <a:ln w="12700">
            <a:solidFill>
              <a:srgbClr val="D9D3F0"/>
            </a:solidFill>
          </a:ln>
        </p:spPr>
        <p:txBody>
          <a:bodyPr rtlCol="0" anchor="ctr"/>
          <a:lstStyle/>
          <a:p>
            <a:endParaRPr lang="en-US"/>
          </a:p>
        </p:txBody>
      </p:sp>
      <p:sp>
        <p:nvSpPr>
          <p:cNvPr id="211" name="Differentiator badge 5"/>
          <p:cNvSpPr/>
          <p:nvPr/>
        </p:nvSpPr>
        <p:spPr>
          <a:xfrm>
            <a:off x="1024128" y="5120640"/>
            <a:ext cx="548640" cy="548640"/>
          </a:xfrm>
          <a:prstGeom prst="ellipse">
            <a:avLst/>
          </a:prstGeom>
          <a:solidFill>
            <a:srgbClr val="6D28D9"/>
          </a:solidFill>
          <a:ln>
            <a:noFill/>
          </a:ln>
        </p:spPr>
        <p:txBody>
          <a:bodyPr wrap="square" lIns="0" tIns="0" rIns="0" bIns="0" rtlCol="0" anchor="ctr">
            <a:noAutofit/>
          </a:bodyPr>
          <a:lstStyle/>
          <a:p>
            <a:pPr algn="ctr" marL="0" indent="0">
              <a:spcAft>
                <a:spcPts val="0"/>
              </a:spcAft>
              <a:buNone/>
            </a:pPr>
            <a:r>
              <a:rPr lang="en-US" sz="2000" b="1" dirty="0">
                <a:solidFill>
                  <a:srgbClr val="FFFFFF"/>
                </a:solidFill>
                <a:latin typeface="Calibri"/>
                <a:cs typeface="Calibri"/>
              </a:rPr>
              <a:t>5</a:t>
            </a:r>
          </a:p>
        </p:txBody>
      </p:sp>
      <p:sp>
        <p:nvSpPr>
          <p:cNvPr id="212" name="Differentiator title 5"/>
          <p:cNvSpPr txBox="1"/>
          <p:nvPr/>
        </p:nvSpPr>
        <p:spPr>
          <a:xfrm>
            <a:off x="1783080" y="4828032"/>
            <a:ext cx="3977640" cy="411480"/>
          </a:xfrm>
          <a:prstGeom prst="rect">
            <a:avLst/>
          </a:prstGeom>
          <a:noFill/>
          <a:ln>
            <a:noFill/>
          </a:ln>
        </p:spPr>
        <p:txBody>
          <a:bodyPr wrap="square" lIns="0" tIns="0" rIns="0" bIns="0" rtlCol="0" anchor="ctr">
            <a:noAutofit/>
          </a:bodyPr>
          <a:lstStyle/>
          <a:p>
            <a:pPr algn="l" marL="0" indent="0">
              <a:spcAft>
                <a:spcPts val="0"/>
              </a:spcAft>
              <a:buNone/>
            </a:pPr>
            <a:r>
              <a:rPr lang="en-US" sz="1600" b="1" dirty="0">
                <a:solidFill>
                  <a:srgbClr val="14142B"/>
                </a:solidFill>
                <a:latin typeface="Calibri"/>
                <a:cs typeface="Calibri"/>
              </a:rPr>
              <a:t>Deterministic safety ordering</a:t>
            </a:r>
          </a:p>
        </p:txBody>
      </p:sp>
      <p:sp>
        <p:nvSpPr>
          <p:cNvPr id="213" name="Differentiator text 5"/>
          <p:cNvSpPr txBox="1"/>
          <p:nvPr/>
        </p:nvSpPr>
        <p:spPr>
          <a:xfrm>
            <a:off x="1783080" y="5266944"/>
            <a:ext cx="3977640" cy="749808"/>
          </a:xfrm>
          <a:prstGeom prst="rect">
            <a:avLst/>
          </a:prstGeom>
          <a:noFill/>
          <a:ln>
            <a:noFill/>
          </a:ln>
        </p:spPr>
        <p:txBody>
          <a:bodyPr wrap="square" lIns="0" tIns="0" rIns="0" bIns="0" rtlCol="0" anchor="t">
            <a:noAutofit/>
          </a:bodyPr>
          <a:lstStyle/>
          <a:p>
            <a:pPr algn="l" marL="0" indent="0">
              <a:spcAft>
                <a:spcPts val="0"/>
              </a:spcAft>
              <a:buNone/>
            </a:pPr>
            <a:r>
              <a:rPr lang="en-US" sz="1400" dirty="0">
                <a:solidFill>
                  <a:srgbClr val="63637E"/>
                </a:solidFill>
                <a:latin typeface="Calibri"/>
                <a:cs typeface="Calibri"/>
              </a:rPr>
              <a:t>A fixed rule table puts auto first and critical last, so the same input gives the same plan.</a:t>
            </a:r>
          </a:p>
        </p:txBody>
      </p:sp>
      <p:sp>
        <p:nvSpPr>
          <p:cNvPr id="214" name="Differentiator card 6"/>
          <p:cNvSpPr/>
          <p:nvPr/>
        </p:nvSpPr>
        <p:spPr>
          <a:xfrm>
            <a:off x="6217920" y="4700016"/>
            <a:ext cx="5120640" cy="1389888"/>
          </a:xfrm>
          <a:prstGeom prst="roundRect">
            <a:avLst>
              <a:gd name="adj" fmla="val 8000"/>
            </a:avLst>
          </a:prstGeom>
          <a:solidFill>
            <a:srgbClr val="F3EEFC"/>
          </a:solidFill>
          <a:ln w="12700">
            <a:solidFill>
              <a:srgbClr val="D9D3F0"/>
            </a:solidFill>
          </a:ln>
        </p:spPr>
        <p:txBody>
          <a:bodyPr rtlCol="0" anchor="ctr"/>
          <a:lstStyle/>
          <a:p>
            <a:endParaRPr lang="en-US"/>
          </a:p>
        </p:txBody>
      </p:sp>
      <p:sp>
        <p:nvSpPr>
          <p:cNvPr id="215" name="Differentiator badge 6"/>
          <p:cNvSpPr/>
          <p:nvPr/>
        </p:nvSpPr>
        <p:spPr>
          <a:xfrm>
            <a:off x="6419088" y="5120640"/>
            <a:ext cx="548640" cy="548640"/>
          </a:xfrm>
          <a:prstGeom prst="ellipse">
            <a:avLst/>
          </a:prstGeom>
          <a:solidFill>
            <a:srgbClr val="6D28D9"/>
          </a:solidFill>
          <a:ln>
            <a:noFill/>
          </a:ln>
        </p:spPr>
        <p:txBody>
          <a:bodyPr wrap="square" lIns="0" tIns="0" rIns="0" bIns="0" rtlCol="0" anchor="ctr">
            <a:noAutofit/>
          </a:bodyPr>
          <a:lstStyle/>
          <a:p>
            <a:pPr algn="ctr" marL="0" indent="0">
              <a:spcAft>
                <a:spcPts val="0"/>
              </a:spcAft>
              <a:buNone/>
            </a:pPr>
            <a:r>
              <a:rPr lang="en-US" sz="2000" b="1" dirty="0">
                <a:solidFill>
                  <a:srgbClr val="FFFFFF"/>
                </a:solidFill>
                <a:latin typeface="Calibri"/>
                <a:cs typeface="Calibri"/>
              </a:rPr>
              <a:t>6</a:t>
            </a:r>
          </a:p>
        </p:txBody>
      </p:sp>
      <p:sp>
        <p:nvSpPr>
          <p:cNvPr id="216" name="Differentiator title 6"/>
          <p:cNvSpPr txBox="1"/>
          <p:nvPr/>
        </p:nvSpPr>
        <p:spPr>
          <a:xfrm>
            <a:off x="7178040" y="4828032"/>
            <a:ext cx="3977640" cy="411480"/>
          </a:xfrm>
          <a:prstGeom prst="rect">
            <a:avLst/>
          </a:prstGeom>
          <a:noFill/>
          <a:ln>
            <a:noFill/>
          </a:ln>
        </p:spPr>
        <p:txBody>
          <a:bodyPr wrap="square" lIns="0" tIns="0" rIns="0" bIns="0" rtlCol="0" anchor="ctr">
            <a:noAutofit/>
          </a:bodyPr>
          <a:lstStyle/>
          <a:p>
            <a:pPr algn="l" marL="0" indent="0">
              <a:spcAft>
                <a:spcPts val="0"/>
              </a:spcAft>
              <a:buNone/>
            </a:pPr>
            <a:r>
              <a:rPr lang="en-US" sz="1600" b="1" dirty="0">
                <a:solidFill>
                  <a:srgbClr val="14142B"/>
                </a:solidFill>
                <a:latin typeface="Calibri"/>
                <a:cs typeface="Calibri"/>
              </a:rPr>
              <a:t>Ablation-backed choices</a:t>
            </a:r>
          </a:p>
        </p:txBody>
      </p:sp>
      <p:sp>
        <p:nvSpPr>
          <p:cNvPr id="217" name="Differentiator text 6"/>
          <p:cNvSpPr txBox="1"/>
          <p:nvPr/>
        </p:nvSpPr>
        <p:spPr>
          <a:xfrm>
            <a:off x="7178040" y="5266944"/>
            <a:ext cx="3977640" cy="749808"/>
          </a:xfrm>
          <a:prstGeom prst="rect">
            <a:avLst/>
          </a:prstGeom>
          <a:noFill/>
          <a:ln>
            <a:noFill/>
          </a:ln>
        </p:spPr>
        <p:txBody>
          <a:bodyPr wrap="square" lIns="0" tIns="0" rIns="0" bIns="0" rtlCol="0" anchor="t">
            <a:noAutofit/>
          </a:bodyPr>
          <a:lstStyle/>
          <a:p>
            <a:pPr algn="l" marL="0" indent="0">
              <a:spcAft>
                <a:spcPts val="0"/>
              </a:spcAft>
              <a:buNone/>
            </a:pPr>
            <a:r>
              <a:rPr lang="en-US" sz="1400" dirty="0">
                <a:solidFill>
                  <a:srgbClr val="63637E"/>
                </a:solidFill>
                <a:latin typeface="Calibri"/>
                <a:cs typeface="Calibri"/>
              </a:rPr>
              <a:t>Baseline vs hybrid vs rules-only compared on accuracy, latency and cost.</a:t>
            </a:r>
          </a:p>
        </p:txBody>
      </p:sp>
    </p:spTree>
    <p:extLst>
      <p:ext uri="{BB962C8B-B14F-4D97-AF65-F5344CB8AC3E}">
        <p14:creationId xmlns:p14="http://schemas.microsoft.com/office/powerpoint/2010/main" val="2095517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E28A-8ABF-4E15-B9E1-B0F49C0EE29F}"/>
              </a:ext>
            </a:extLst>
          </p:cNvPr>
          <p:cNvSpPr>
            <a:spLocks noGrp="1"/>
          </p:cNvSpPr>
          <p:nvPr>
            <p:ph type="title"/>
          </p:nvPr>
        </p:nvSpPr>
        <p:spPr/>
        <p:txBody>
          <a:bodyPr/>
          <a:lstStyle/>
          <a:p>
            <a:r>
              <a:rPr lang="en-IN" b="1" dirty="0">
                <a:solidFill>
                  <a:srgbClr val="704EA6"/>
                </a:solidFill>
                <a:latin typeface="+mn-lt"/>
              </a:rPr>
              <a:t>Checklist- Updated on Public GitHub</a:t>
            </a:r>
          </a:p>
        </p:txBody>
      </p:sp>
      <p:sp>
        <p:nvSpPr>
          <p:cNvPr id="3" name="Content Placeholder 2">
            <a:extLst>
              <a:ext uri="{FF2B5EF4-FFF2-40B4-BE49-F238E27FC236}">
                <a16:creationId xmlns:a16="http://schemas.microsoft.com/office/drawing/2014/main" id="{DAB3E6F6-9D00-4480-90E6-EC3C876F2628}"/>
              </a:ext>
            </a:extLst>
          </p:cNvPr>
          <p:cNvSpPr>
            <a:spLocks noGrp="1"/>
          </p:cNvSpPr>
          <p:nvPr>
            <p:ph idx="1"/>
          </p:nvPr>
        </p:nvSpPr>
        <p:spPr/>
        <p:txBody>
          <a:bodyPr/>
          <a:lstStyle/>
          <a:p>
            <a:pPr marL="177800" indent="-177800">
              <a:spcAft>
                <a:spcPts val="500"/>
              </a:spcAft>
              <a:buSzPct val="100000"/>
              <a:buChar char="•"/>
            </a:pPr>
            <a:r>
              <a:rPr lang="en-US" sz="2800" dirty="0">
                <a:solidFill>
                  <a:srgbClr val="63637E"/>
                </a:solidFill>
                <a:latin typeface="Calibri" pitchFamily="34" charset="0"/>
                <a:ea typeface="Calibri" pitchFamily="34" charset="-122"/>
                <a:cs typeface="Calibri" pitchFamily="34" charset="-120"/>
              </a:rPr>
              <a:t>Working prototype code — public or shared GitHub repo (Y/N)</a:t>
            </a:r>
            <a:endParaRPr lang="en-US" sz="2800" dirty="0"/>
          </a:p>
          <a:p>
            <a:pPr marL="177800" indent="-177800">
              <a:spcAft>
                <a:spcPts val="500"/>
              </a:spcAft>
              <a:buSzPct val="100000"/>
              <a:buChar char="•"/>
            </a:pPr>
            <a:r>
              <a:rPr lang="en-US" sz="2800" dirty="0">
                <a:solidFill>
                  <a:srgbClr val="63637E"/>
                </a:solidFill>
                <a:latin typeface="Calibri" pitchFamily="34" charset="0"/>
                <a:ea typeface="Calibri" pitchFamily="34" charset="-122"/>
                <a:cs typeface="Calibri" pitchFamily="34" charset="-120"/>
              </a:rPr>
              <a:t>README with reproducible setup instructions (Y/N)</a:t>
            </a:r>
            <a:endParaRPr lang="en-US" sz="2800" dirty="0"/>
          </a:p>
          <a:p>
            <a:pPr marL="177800" indent="-177800">
              <a:spcAft>
                <a:spcPts val="500"/>
              </a:spcAft>
              <a:buSzPct val="100000"/>
              <a:buChar char="•"/>
            </a:pPr>
            <a:r>
              <a:rPr lang="en-US" sz="2800" dirty="0">
                <a:solidFill>
                  <a:srgbClr val="63637E"/>
                </a:solidFill>
                <a:latin typeface="Calibri" pitchFamily="34" charset="0"/>
                <a:ea typeface="Calibri" pitchFamily="34" charset="-122"/>
                <a:cs typeface="Calibri" pitchFamily="34" charset="-120"/>
              </a:rPr>
              <a:t>Demo video, max 5 minutes (YouTube or Drive link)</a:t>
            </a:r>
            <a:endParaRPr lang="en-US" sz="2800" dirty="0"/>
          </a:p>
          <a:p>
            <a:pPr marL="177800" indent="-177800">
              <a:spcAft>
                <a:spcPts val="500"/>
              </a:spcAft>
              <a:buSzPct val="100000"/>
              <a:buChar char="•"/>
            </a:pPr>
            <a:r>
              <a:rPr lang="en-US" sz="2800" dirty="0">
                <a:solidFill>
                  <a:srgbClr val="63637E"/>
                </a:solidFill>
                <a:latin typeface="Calibri" pitchFamily="34" charset="0"/>
                <a:ea typeface="Calibri" pitchFamily="34" charset="-122"/>
                <a:cs typeface="Calibri" pitchFamily="34" charset="-120"/>
              </a:rPr>
              <a:t>Presentation file (PPT or PDF) (Y/N)</a:t>
            </a:r>
            <a:endParaRPr lang="en-US" sz="2800" dirty="0"/>
          </a:p>
          <a:p>
            <a:pPr marL="0" indent="0">
              <a:buNone/>
            </a:pPr>
            <a:endParaRPr lang="en-IN" dirty="0"/>
          </a:p>
        </p:txBody>
      </p:sp>
    </p:spTree>
    <p:extLst>
      <p:ext uri="{BB962C8B-B14F-4D97-AF65-F5344CB8AC3E}">
        <p14:creationId xmlns:p14="http://schemas.microsoft.com/office/powerpoint/2010/main" val="18069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46181" y="3730214"/>
            <a:ext cx="6766560" cy="868680"/>
          </a:xfrm>
          <a:prstGeom prst="rect">
            <a:avLst/>
          </a:prstGeom>
          <a:noFill/>
          <a:ln/>
        </p:spPr>
        <p:txBody>
          <a:bodyPr wrap="square" lIns="0" tIns="0" rIns="0" bIns="0" rtlCol="0" anchor="ctr"/>
          <a:lstStyle/>
          <a:p>
            <a:pPr marL="0" indent="0">
              <a:buNone/>
            </a:pPr>
            <a:r>
              <a:rPr lang="en-US" sz="4600" b="1" dirty="0">
                <a:solidFill>
                  <a:srgbClr val="14142B"/>
                </a:solidFill>
                <a:latin typeface="Arial" pitchFamily="34" charset="0"/>
                <a:ea typeface="Arial" pitchFamily="34" charset="-122"/>
                <a:cs typeface="Arial" pitchFamily="34" charset="-120"/>
              </a:rPr>
              <a:t>Thank you</a:t>
            </a:r>
            <a:endParaRPr lang="en-US" sz="4600" dirty="0"/>
          </a:p>
        </p:txBody>
      </p:sp>
      <p:sp>
        <p:nvSpPr>
          <p:cNvPr id="28" name="Text 25"/>
          <p:cNvSpPr txBox="1"/>
          <p:nvPr/>
        </p:nvSpPr>
        <p:spPr>
          <a:xfrm>
            <a:off x="777240" y="5897880"/>
            <a:ext cx="10607040" cy="292608"/>
          </a:xfrm>
          <a:prstGeom prst="rect">
            <a:avLst/>
          </a:prstGeom>
          <a:noFill/>
          <a:ln/>
        </p:spPr>
        <p:txBody>
          <a:bodyPr wrap="square" lIns="0" tIns="0" rIns="0" bIns="0" rtlCol="0" anchor="ctr"/>
          <a:lstStyle/>
          <a:p>
            <a:pPr marL="0" indent="0">
              <a:buNone/>
            </a:pPr>
            <a:r>
              <a:rPr lang="en-US" sz="1100" dirty="0">
                <a:solidFill>
                  <a:srgbClr val="63637E"/>
                </a:solidFill>
                <a:latin typeface="Calibri" pitchFamily="34" charset="0"/>
                <a:ea typeface="Calibri" pitchFamily="34" charset="-122"/>
                <a:cs typeface="Calibri" pitchFamily="34" charset="-120"/>
              </a:rPr>
              <a:t>Organised by the Language AI Team and the PRISM Team, Samsung R&amp;D Institute India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65</TotalTime>
  <Words>266</Words>
  <Application>Microsoft Office PowerPoint</Application>
  <PresentationFormat>Widescreen</PresentationFormat>
  <Paragraphs>32</Paragraphs>
  <Slides>12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Theme</vt:lpstr>
      <vt:lpstr>Existing Solutions &amp; Gaps</vt:lpstr>
      <vt:lpstr>Our Solutions &amp; Architecture Diagram</vt:lpstr>
      <vt:lpstr>Demo &amp; Product Walkthrough</vt:lpstr>
      <vt:lpstr>Tools and tech stack used</vt:lpstr>
      <vt:lpstr>Impact &amp; Use case</vt:lpstr>
      <vt:lpstr>Innovation highlights, results and limitations</vt:lpstr>
      <vt:lpstr>What’s next</vt:lpstr>
      <vt:lpstr>Brownie points slide( differentiation)</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Binny Lakra/PRISM /SRI-Bangalore/Professional/Samsung Electronics</dc:creator>
  <cp:lastModifiedBy>Binny Lakra/PRISM /SRI-Bangalore/Professional/Samsung Electronics</cp:lastModifiedBy>
  <cp:revision>6</cp:revision>
  <dcterms:created xsi:type="dcterms:W3CDTF">2026-09-07T12:01:01Z</dcterms:created>
  <dcterms:modified xsi:type="dcterms:W3CDTF">2026-09-08T10:03:30Z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